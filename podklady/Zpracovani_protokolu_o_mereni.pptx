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24" r:id="rId6"/>
    <p:sldId id="259" r:id="rId7"/>
    <p:sldId id="300" r:id="rId8"/>
    <p:sldId id="310" r:id="rId9"/>
    <p:sldId id="260" r:id="rId10"/>
    <p:sldId id="320" r:id="rId11"/>
    <p:sldId id="269" r:id="rId12"/>
    <p:sldId id="261" r:id="rId13"/>
    <p:sldId id="319" r:id="rId14"/>
    <p:sldId id="263" r:id="rId15"/>
    <p:sldId id="264" r:id="rId16"/>
    <p:sldId id="265" r:id="rId17"/>
    <p:sldId id="303" r:id="rId18"/>
    <p:sldId id="307" r:id="rId19"/>
    <p:sldId id="266" r:id="rId20"/>
    <p:sldId id="302" r:id="rId21"/>
    <p:sldId id="267" r:id="rId22"/>
    <p:sldId id="268" r:id="rId23"/>
    <p:sldId id="272" r:id="rId24"/>
    <p:sldId id="270" r:id="rId25"/>
    <p:sldId id="304" r:id="rId26"/>
    <p:sldId id="271" r:id="rId27"/>
    <p:sldId id="274" r:id="rId28"/>
    <p:sldId id="273" r:id="rId29"/>
    <p:sldId id="275" r:id="rId30"/>
    <p:sldId id="277" r:id="rId31"/>
    <p:sldId id="276" r:id="rId32"/>
    <p:sldId id="312" r:id="rId33"/>
    <p:sldId id="278" r:id="rId34"/>
    <p:sldId id="279" r:id="rId35"/>
    <p:sldId id="309" r:id="rId36"/>
    <p:sldId id="313" r:id="rId37"/>
    <p:sldId id="281" r:id="rId38"/>
    <p:sldId id="283" r:id="rId39"/>
    <p:sldId id="284" r:id="rId40"/>
    <p:sldId id="287" r:id="rId41"/>
    <p:sldId id="285" r:id="rId42"/>
    <p:sldId id="289" r:id="rId43"/>
    <p:sldId id="290" r:id="rId44"/>
    <p:sldId id="291" r:id="rId45"/>
    <p:sldId id="293" r:id="rId46"/>
    <p:sldId id="294" r:id="rId47"/>
    <p:sldId id="292" r:id="rId48"/>
    <p:sldId id="295" r:id="rId49"/>
    <p:sldId id="296" r:id="rId50"/>
    <p:sldId id="305" r:id="rId51"/>
    <p:sldId id="297" r:id="rId52"/>
    <p:sldId id="314" r:id="rId53"/>
    <p:sldId id="306" r:id="rId54"/>
    <p:sldId id="299" r:id="rId55"/>
    <p:sldId id="311" r:id="rId56"/>
    <p:sldId id="321" r:id="rId57"/>
    <p:sldId id="322" r:id="rId58"/>
    <p:sldId id="315" r:id="rId59"/>
    <p:sldId id="316" r:id="rId60"/>
    <p:sldId id="317" r:id="rId61"/>
    <p:sldId id="325" r:id="rId62"/>
    <p:sldId id="318" r:id="rId63"/>
    <p:sldId id="323" r:id="rId64"/>
    <p:sldId id="308" r:id="rId6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472C4"/>
    <a:srgbClr val="B8B8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4D57BD-8380-8502-37FE-80E6BEF00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700E56D-AED5-79A3-9C90-EBCD9B4C1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F290F07-5FED-82FE-6C65-7B4AB877A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9E17-7946-4405-A587-E389BB18D93C}" type="datetimeFigureOut">
              <a:rPr lang="cs-CZ" smtClean="0"/>
              <a:t>21.10.2026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6C63B7D-0899-EFAA-E8AF-DA4D2E8D9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60877EE-5D3E-9EF2-0744-DB4B6F7D2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8651B-A0FD-46D2-9203-DCEF95ABB73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9922255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8D2C0F-892E-5FB2-5295-73B6C3F1D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842E0B5-5270-1432-6330-69C72C763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6C8960A-5761-5686-7D43-C8FB30BD4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9E17-7946-4405-A587-E389BB18D93C}" type="datetimeFigureOut">
              <a:rPr lang="cs-CZ" smtClean="0"/>
              <a:t>21.10.2026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99CC104-BB01-670F-D5D3-2E2A89C6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9CA236C-E7C7-0501-2C28-040D00DB3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8651B-A0FD-46D2-9203-DCEF95ABB73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61549971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EA0A8D-ED2C-CAFC-213B-ECF68E0CF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69BC786-7893-CFAE-C374-9B6A569FB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5F7A91-31AA-B853-2784-66C41FB91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9E17-7946-4405-A587-E389BB18D93C}" type="datetimeFigureOut">
              <a:rPr lang="cs-CZ" smtClean="0"/>
              <a:t>21.10.2026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75BDE5A-BB39-97B2-6319-A291FB41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E5A8253-FD97-F4E8-0061-26ACFC456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8651B-A0FD-46D2-9203-DCEF95ABB73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59114966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F25851-F18B-DD76-12B1-A08E431BE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1E5A073-3C0B-CFD4-64A3-7B8A50259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BF71845-659F-AA8C-4050-88C3C75D9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90D5707-FE60-E436-90CB-E32803995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9E17-7946-4405-A587-E389BB18D93C}" type="datetimeFigureOut">
              <a:rPr lang="cs-CZ" smtClean="0"/>
              <a:t>21.10.2026</a:t>
            </a:fld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A379779-4A4E-AFD4-8A1D-996E90A64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63181B1-285C-CCDB-20BB-CF0E9EDAB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8651B-A0FD-46D2-9203-DCEF95ABB73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08656570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53CC88-6595-A162-10B1-A6861216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3F043C5-D786-0AB5-6427-B8FF9CEE4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8170675-43ED-6B73-6913-7303F74AB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0494DC69-CA1C-7D21-743A-E375AE95F3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DCE6008-4866-0073-4913-10FC7FE4C4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2AF7078-EA28-A9CE-ADE3-4132A9203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9E17-7946-4405-A587-E389BB18D93C}" type="datetimeFigureOut">
              <a:rPr lang="cs-CZ" smtClean="0"/>
              <a:t>21.10.2026</a:t>
            </a:fld>
            <a:endParaRPr lang="cs-CZ" dirty="0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11782895-8A1F-67ED-C025-C3BF902E5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06D0E77F-9E21-B16A-EBAD-26435D276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8651B-A0FD-46D2-9203-DCEF95ABB73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2947097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D35A10-92BD-6792-C891-BC010D0A0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28B9B64C-1811-F4C9-3895-3C715DCA6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9E17-7946-4405-A587-E389BB18D93C}" type="datetimeFigureOut">
              <a:rPr lang="cs-CZ" smtClean="0"/>
              <a:t>21.10.2026</a:t>
            </a:fld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58107DB-AE63-91FB-65B6-07E6BA35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6756908-6319-58D5-3B20-C428D28D6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8651B-A0FD-46D2-9203-DCEF95ABB73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16344973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4E66BFA4-701C-5A34-047D-3B1855385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9E17-7946-4405-A587-E389BB18D93C}" type="datetimeFigureOut">
              <a:rPr lang="cs-CZ" smtClean="0"/>
              <a:t>21.10.2026</a:t>
            </a:fld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86281F0F-744C-4735-D2CE-FBB77F642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43ADE46-C1B8-E2B9-AC38-D4D010740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8651B-A0FD-46D2-9203-DCEF95ABB73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96987007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60BC33-1087-CB45-DAF8-32DC41EE0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120F4A4-4AC0-145A-0FEE-F58D1994D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8CB7E85-379F-8487-39F2-5060E1E55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AB66CED-F914-F528-F02E-1E78CF46F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9E17-7946-4405-A587-E389BB18D93C}" type="datetimeFigureOut">
              <a:rPr lang="cs-CZ" smtClean="0"/>
              <a:t>21.10.2026</a:t>
            </a:fld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444AF3D-2CCC-D629-09F7-02D8F4D20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B3A7038-4FFB-6DAB-3812-4524F140D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8651B-A0FD-46D2-9203-DCEF95ABB73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8196900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9D5650-5F98-96C6-9E13-33041E19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5A8C5585-74A0-1971-F53F-D5A5F90692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7D34D02-7531-6E9C-688B-D2FBB26C7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2B3817A-076C-D40B-E64D-DC8C404C1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9E17-7946-4405-A587-E389BB18D93C}" type="datetimeFigureOut">
              <a:rPr lang="cs-CZ" smtClean="0"/>
              <a:t>21.10.2026</a:t>
            </a:fld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55B1E63-2848-69D7-6240-2AE72315C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70437C1-2A1C-122C-60F3-AD74B2A4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8651B-A0FD-46D2-9203-DCEF95ABB73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10886607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B81522-F31E-4963-1A3E-017216D0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39F0164-D3F2-938A-7D59-22E16736C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F3499D3-2949-45A9-4EB5-6D94BE609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9E17-7946-4405-A587-E389BB18D93C}" type="datetimeFigureOut">
              <a:rPr lang="cs-CZ" smtClean="0"/>
              <a:t>21.10.2026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6B50BBB-954C-07C7-B54D-2F026090F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C63EC25-3949-A12A-50C7-3B7B0BF09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8651B-A0FD-46D2-9203-DCEF95ABB73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041550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BA47383-19F2-8829-EE21-1F1264EEF5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D0E4EC0-2BAC-8951-CDC0-42D4C34BA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4952557-205D-0BFB-99B6-886BE14C9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9E17-7946-4405-A587-E389BB18D93C}" type="datetimeFigureOut">
              <a:rPr lang="cs-CZ" smtClean="0"/>
              <a:t>21.10.2026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8F335B4-C22D-14A8-D4C1-05EDF015A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D3C6FD5-ED97-A1A6-FE84-E7D6FBE8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8651B-A0FD-46D2-9203-DCEF95ABB73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6898786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7F45C177-846B-1FDC-9EE6-336C244BF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10F2E6F-0A1C-DE44-E695-03EB80FCC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58E0739-82BD-1773-1019-96C51A50B8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59E17-7946-4405-A587-E389BB18D93C}" type="datetimeFigureOut">
              <a:rPr lang="cs-CZ" smtClean="0"/>
              <a:t>21.10.2026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FC5628-F6AA-492C-144D-B9B4A61A8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4F2EE8-504E-2017-3D7F-609EE1D8F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8651B-A0FD-46D2-9203-DCEF95ABB73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90879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gi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0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Střední škola, kde může začít i tvá budoucnost - SPŠE Plzeň">
            <a:extLst>
              <a:ext uri="{FF2B5EF4-FFF2-40B4-BE49-F238E27FC236}">
                <a16:creationId xmlns:a16="http://schemas.microsoft.com/office/drawing/2014/main" id="{91C4CFFB-290E-C70D-0F4D-29117374CB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9" t="9091" r="12746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2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A5EC175-23B1-59BC-FB3E-4EE0F6A76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719" y="5240004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cs-CZ" sz="2000" dirty="0"/>
              <a:t>Vytvořila:</a:t>
            </a:r>
          </a:p>
          <a:p>
            <a:pPr algn="l"/>
            <a:r>
              <a:rPr lang="cs-CZ" sz="2000" dirty="0"/>
              <a:t>Klasnová Karolína 3.T</a:t>
            </a:r>
          </a:p>
          <a:p>
            <a:pPr algn="l"/>
            <a:r>
              <a:rPr lang="cs-CZ" sz="2000" dirty="0"/>
              <a:t>2022/23</a:t>
            </a:r>
          </a:p>
        </p:txBody>
      </p:sp>
      <p:sp>
        <p:nvSpPr>
          <p:cNvPr id="1041" name="Rectangle 103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2" name="Rectangle 103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A7EF35E2-A0FD-4FDE-8AF4-CE7C77E54989}"/>
              </a:ext>
            </a:extLst>
          </p:cNvPr>
          <p:cNvSpPr/>
          <p:nvPr/>
        </p:nvSpPr>
        <p:spPr>
          <a:xfrm>
            <a:off x="2085867" y="134989"/>
            <a:ext cx="428341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cs-CZ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Střední školou</a:t>
            </a:r>
          </a:p>
          <a:p>
            <a:pPr algn="ctr"/>
            <a:r>
              <a:rPr lang="cs-CZ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to nekončí </a:t>
            </a:r>
            <a:r>
              <a:rPr lang="cs-CZ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sym typeface="Wingdings" panose="05000000000000000000" pitchFamily="2" charset="2"/>
              </a:rPr>
              <a:t></a:t>
            </a:r>
            <a:endParaRPr lang="cs-CZ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3E96A93-81C6-4BFA-9C1C-293169F214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857" t="32600" r="28900" b="35655"/>
          <a:stretch/>
        </p:blipFill>
        <p:spPr>
          <a:xfrm>
            <a:off x="2199027" y="1885014"/>
            <a:ext cx="4057096" cy="1222879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78A059C4-C37B-F386-E911-54F1D0ABC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79" y="3639340"/>
            <a:ext cx="4937398" cy="1391171"/>
          </a:xfrm>
          <a:solidFill>
            <a:srgbClr val="FFFFFF"/>
          </a:solidFill>
        </p:spPr>
        <p:txBody>
          <a:bodyPr anchor="b">
            <a:normAutofit fontScale="90000"/>
          </a:bodyPr>
          <a:lstStyle/>
          <a:p>
            <a:pPr algn="l"/>
            <a:r>
              <a:rPr lang="cs-CZ" sz="4800" b="1" i="1" dirty="0">
                <a:highlight>
                  <a:srgbClr val="FFFFFF"/>
                </a:highlight>
              </a:rPr>
              <a:t>Zpracování protokolu o měření</a:t>
            </a:r>
          </a:p>
        </p:txBody>
      </p:sp>
    </p:spTree>
    <p:extLst>
      <p:ext uri="{BB962C8B-B14F-4D97-AF65-F5344CB8AC3E}">
        <p14:creationId xmlns:p14="http://schemas.microsoft.com/office/powerpoint/2010/main" val="352331908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33D10D-01C7-E03A-5C2D-11785F1F6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u="sng" dirty="0"/>
              <a:t>Jak se protokol vlastně tvoří?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6AA2F3D-60FD-B6A9-753E-8B837DE86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 prezentaci se dozvíte podrobnosti k jednotlivých částem protokolu</a:t>
            </a:r>
          </a:p>
          <a:p>
            <a:r>
              <a:rPr lang="cs-CZ" dirty="0"/>
              <a:t>Doporučuji si prezentaci přímo spustit, aby se odhalil text např. na osmém snímku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6204926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90E2B4-31DF-16AA-74CF-6970080A7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cs-CZ" sz="5400" b="1" i="1" dirty="0">
                <a:highlight>
                  <a:srgbClr val="FFFF00"/>
                </a:highlight>
              </a:rPr>
              <a:t>Teoretický úvod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0A2462B-4B1F-B87E-85D3-D8A6CEB2A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Zpracovává se, aby se předem rozumělo jednotlivým bodům zadání</a:t>
            </a:r>
          </a:p>
          <a:p>
            <a:r>
              <a:rPr lang="cs-CZ" dirty="0"/>
              <a:t>Pro pochopení funkce použitých součástek, obvodů a metod, se kterými pracujete</a:t>
            </a:r>
          </a:p>
          <a:p>
            <a:r>
              <a:rPr lang="cs-CZ" dirty="0"/>
              <a:t>Přinese se na aktuální praktické cvičení</a:t>
            </a:r>
          </a:p>
        </p:txBody>
      </p:sp>
    </p:spTree>
    <p:extLst>
      <p:ext uri="{BB962C8B-B14F-4D97-AF65-F5344CB8AC3E}">
        <p14:creationId xmlns:p14="http://schemas.microsoft.com/office/powerpoint/2010/main" val="1449082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E0A839-718B-E44A-ADD7-125EAD24D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i="1" dirty="0"/>
              <a:t>Tvorba </a:t>
            </a:r>
            <a:r>
              <a:rPr lang="cs-CZ" sz="4400" b="1" i="1" dirty="0">
                <a:highlight>
                  <a:srgbClr val="FFFF00"/>
                </a:highlight>
              </a:rPr>
              <a:t>Teoretického úvodu</a:t>
            </a:r>
            <a:endParaRPr lang="cs-CZ" b="1" i="1" dirty="0">
              <a:highlight>
                <a:srgbClr val="FFFF00"/>
              </a:highlight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AB6F7C-6237-E482-4C0C-D3346D1F1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800" dirty="0"/>
              <a:t>Vysvětlit funkci a vlastnosti použitých součástek, obvodů a metod, principy měření, jaký je účel měření</a:t>
            </a:r>
          </a:p>
          <a:p>
            <a:r>
              <a:rPr lang="cs-CZ" dirty="0"/>
              <a:t>Vždy najdete body v podkladech pro praktické cvičení</a:t>
            </a:r>
          </a:p>
          <a:p>
            <a:r>
              <a:rPr lang="cs-CZ" sz="2800" dirty="0"/>
              <a:t>Vypracujete body pod </a:t>
            </a:r>
            <a:r>
              <a:rPr lang="cs-CZ" dirty="0"/>
              <a:t>„</a:t>
            </a:r>
            <a:r>
              <a:rPr lang="cs-CZ" sz="2800" dirty="0"/>
              <a:t>Uveďte“ a další požadavky podle „Zadání“:</a:t>
            </a:r>
          </a:p>
          <a:p>
            <a:pPr marL="0" indent="0">
              <a:buNone/>
            </a:pPr>
            <a:endParaRPr lang="cs-CZ" sz="2800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A73A01B2-6238-4DAB-0C83-7C5503680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35" y="4001294"/>
            <a:ext cx="931545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2951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DA31A3-294B-B874-2114-537EC52F2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i="1" dirty="0"/>
              <a:t>Tvorba </a:t>
            </a:r>
            <a:r>
              <a:rPr lang="cs-CZ" b="1" i="1" dirty="0">
                <a:highlight>
                  <a:srgbClr val="FFFF00"/>
                </a:highlight>
              </a:rPr>
              <a:t>Teoretického úvodu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75D4F0-5D4F-81FB-CEFF-CCB96655C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01150" cy="4351338"/>
          </a:xfrm>
        </p:spPr>
        <p:txBody>
          <a:bodyPr/>
          <a:lstStyle/>
          <a:p>
            <a:r>
              <a:rPr lang="cs-CZ" sz="2800" dirty="0"/>
              <a:t>Čerpejte z více zdrojů – </a:t>
            </a:r>
            <a:r>
              <a:rPr lang="cs-CZ" sz="2800" i="1" u="sng" dirty="0">
                <a:highlight>
                  <a:srgbClr val="FFFF00"/>
                </a:highlight>
              </a:rPr>
              <a:t>hlavně z literatury v infocentru </a:t>
            </a:r>
          </a:p>
          <a:p>
            <a:pPr lvl="1"/>
            <a:r>
              <a:rPr lang="cs-CZ" dirty="0"/>
              <a:t>Zdroje na internetu obsahují mnoho chyb a nesmyslů</a:t>
            </a:r>
          </a:p>
          <a:p>
            <a:r>
              <a:rPr lang="cs-CZ" sz="2800" dirty="0"/>
              <a:t>Popište svými slovy</a:t>
            </a:r>
          </a:p>
          <a:p>
            <a:r>
              <a:rPr lang="cs-CZ" sz="2800" dirty="0"/>
              <a:t>Můžete proložit obrázky</a:t>
            </a:r>
          </a:p>
          <a:p>
            <a:r>
              <a:rPr lang="cs-CZ" dirty="0"/>
              <a:t>Při vkládání obrázků a grafů průběhů do úvodu dbát na jejich korektnost (správný popis os a jednotek, správný průběh, velikost obrázků).</a:t>
            </a:r>
          </a:p>
          <a:p>
            <a:r>
              <a:rPr lang="cs-CZ" sz="2800" dirty="0"/>
              <a:t>Vše, co je tam napsané, by mělo být srozumitelné pro vás      i jiné čtenáře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021994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6667A1-7DB1-8B9A-AC28-D2CC50FB6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/>
              <a:t>Kde najdete desky na protokol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736A82-EBA7-BEB6-C32E-CCB45C078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726900"/>
            <a:ext cx="12055877" cy="4351338"/>
          </a:xfrm>
        </p:spPr>
        <p:txBody>
          <a:bodyPr/>
          <a:lstStyle/>
          <a:p>
            <a:r>
              <a:rPr lang="cs-CZ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Filr </a:t>
            </a:r>
            <a:r>
              <a:rPr lang="cs-CZ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cs-CZ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VOŠ_a_SPŠE </a:t>
            </a:r>
            <a:r>
              <a:rPr lang="cs-CZ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cs-CZ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katedra_odp </a:t>
            </a:r>
            <a:r>
              <a:rPr lang="cs-CZ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cs-CZ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ELEKTROTECHNIKA </a:t>
            </a:r>
            <a:r>
              <a:rPr lang="cs-CZ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cs-CZ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Desky na protokoly z odborných předmětů</a:t>
            </a:r>
            <a:endParaRPr lang="cs-CZ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cs-CZ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7F9674C-C69D-4AA9-9ED7-85BAA41A92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368" t="5324" r="37646" b="74819"/>
          <a:stretch/>
        </p:blipFill>
        <p:spPr>
          <a:xfrm>
            <a:off x="230819" y="2822692"/>
            <a:ext cx="11825058" cy="2752483"/>
          </a:xfrm>
          <a:prstGeom prst="rect">
            <a:avLst/>
          </a:prstGeom>
        </p:spPr>
      </p:pic>
      <p:sp>
        <p:nvSpPr>
          <p:cNvPr id="8" name="Ovál 7">
            <a:extLst>
              <a:ext uri="{FF2B5EF4-FFF2-40B4-BE49-F238E27FC236}">
                <a16:creationId xmlns:a16="http://schemas.microsoft.com/office/drawing/2014/main" id="{E1B70259-FB96-76D0-FCD6-8A8ED5DE9A57}"/>
              </a:ext>
            </a:extLst>
          </p:cNvPr>
          <p:cNvSpPr/>
          <p:nvPr/>
        </p:nvSpPr>
        <p:spPr>
          <a:xfrm>
            <a:off x="1935332" y="4699205"/>
            <a:ext cx="4314548" cy="55321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7" name="Ovál 6">
            <a:extLst>
              <a:ext uri="{FF2B5EF4-FFF2-40B4-BE49-F238E27FC236}">
                <a16:creationId xmlns:a16="http://schemas.microsoft.com/office/drawing/2014/main" id="{127CE76A-5379-42CA-3600-F5D503063677}"/>
              </a:ext>
            </a:extLst>
          </p:cNvPr>
          <p:cNvSpPr/>
          <p:nvPr/>
        </p:nvSpPr>
        <p:spPr>
          <a:xfrm>
            <a:off x="1935332" y="3823236"/>
            <a:ext cx="4314548" cy="55321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889521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AB8879-AFD6-02E2-FCC5-A0D895A15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/>
              <a:t>Desky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1BCD583-59B2-DA7F-CD20-DB6C5E953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063"/>
            <a:ext cx="10515600" cy="4351338"/>
          </a:xfrm>
        </p:spPr>
        <p:txBody>
          <a:bodyPr/>
          <a:lstStyle/>
          <a:p>
            <a:r>
              <a:rPr lang="cs-CZ" dirty="0"/>
              <a:t>Protokol se tiskne jednostranně (nebo dle domluvy s učitelem)</a:t>
            </a:r>
          </a:p>
          <a:p>
            <a:r>
              <a:rPr lang="cs-CZ" dirty="0"/>
              <a:t>Desky jako takové (stáhnete z Filru) vytiskněte na formát A3 (</a:t>
            </a:r>
            <a:r>
              <a:rPr lang="cs-CZ" i="1" u="sng" dirty="0"/>
              <a:t>výjimečně</a:t>
            </a:r>
            <a:r>
              <a:rPr lang="cs-CZ" dirty="0"/>
              <a:t> můžete provést jiným způsobem po dohodě s učitelem) a do nich se postupně vloží další stránky protokolu dle seznamu na zadní straně desek</a:t>
            </a:r>
          </a:p>
          <a:p>
            <a:r>
              <a:rPr lang="cs-CZ" dirty="0"/>
              <a:t>V šabloně je to již předpřipravené, že na jednotlivých stránkách protokolu je potřeba mít napsané své jméno, příjmení a číslo stránky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1B274E8-1B61-9816-CA7A-2BC917791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378" y="4460839"/>
            <a:ext cx="7050537" cy="219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4911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2EC8A2-7DE1-14AA-F75E-0768CF9A4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" y="269875"/>
            <a:ext cx="10515600" cy="1325563"/>
          </a:xfrm>
        </p:spPr>
        <p:txBody>
          <a:bodyPr/>
          <a:lstStyle/>
          <a:p>
            <a:r>
              <a:rPr lang="cs-CZ" dirty="0"/>
              <a:t>Vyplnění desek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1FD21E45-1C19-7696-391B-BCDC01961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1" b="2721"/>
          <a:stretch/>
        </p:blipFill>
        <p:spPr>
          <a:xfrm>
            <a:off x="3713733" y="346230"/>
            <a:ext cx="6897949" cy="64550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DF8C6D65-CD78-DD74-C11E-AD7B5C726F25}"/>
              </a:ext>
            </a:extLst>
          </p:cNvPr>
          <p:cNvSpPr txBox="1"/>
          <p:nvPr/>
        </p:nvSpPr>
        <p:spPr>
          <a:xfrm>
            <a:off x="275208" y="4820576"/>
            <a:ext cx="2959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dirty="0">
                <a:solidFill>
                  <a:srgbClr val="FF0000"/>
                </a:solidFill>
              </a:rPr>
              <a:t>Přepsáno ze zadání</a:t>
            </a:r>
          </a:p>
        </p:txBody>
      </p:sp>
      <p:cxnSp>
        <p:nvCxnSpPr>
          <p:cNvPr id="8" name="Přímá spojnice se šipkou 7">
            <a:extLst>
              <a:ext uri="{FF2B5EF4-FFF2-40B4-BE49-F238E27FC236}">
                <a16:creationId xmlns:a16="http://schemas.microsoft.com/office/drawing/2014/main" id="{0A925B04-059C-C116-95C7-CB58CF2E0330}"/>
              </a:ext>
            </a:extLst>
          </p:cNvPr>
          <p:cNvCxnSpPr>
            <a:cxnSpLocks/>
          </p:cNvCxnSpPr>
          <p:nvPr/>
        </p:nvCxnSpPr>
        <p:spPr>
          <a:xfrm flipH="1" flipV="1">
            <a:off x="1801710" y="5343796"/>
            <a:ext cx="1411549" cy="3817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5087F235-894C-91CA-0349-CF42F178C963}"/>
              </a:ext>
            </a:extLst>
          </p:cNvPr>
          <p:cNvSpPr txBox="1"/>
          <p:nvPr/>
        </p:nvSpPr>
        <p:spPr>
          <a:xfrm>
            <a:off x="1047566" y="2838634"/>
            <a:ext cx="2521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rgbClr val="0070C0"/>
                </a:solidFill>
              </a:rPr>
              <a:t>Součástky, které měříme a jejich hodnoty</a:t>
            </a:r>
          </a:p>
        </p:txBody>
      </p:sp>
      <p:cxnSp>
        <p:nvCxnSpPr>
          <p:cNvPr id="13" name="Přímá spojnice se šipkou 12">
            <a:extLst>
              <a:ext uri="{FF2B5EF4-FFF2-40B4-BE49-F238E27FC236}">
                <a16:creationId xmlns:a16="http://schemas.microsoft.com/office/drawing/2014/main" id="{A557B5BE-930C-843A-A2D0-FCDB66B94BEB}"/>
              </a:ext>
            </a:extLst>
          </p:cNvPr>
          <p:cNvCxnSpPr>
            <a:cxnSpLocks/>
          </p:cNvCxnSpPr>
          <p:nvPr/>
        </p:nvCxnSpPr>
        <p:spPr>
          <a:xfrm flipH="1" flipV="1">
            <a:off x="3133817" y="3338004"/>
            <a:ext cx="1589103" cy="95878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55E22144-22C5-8FF7-B33E-13B0B3DEA253}"/>
              </a:ext>
            </a:extLst>
          </p:cNvPr>
          <p:cNvSpPr txBox="1"/>
          <p:nvPr/>
        </p:nvSpPr>
        <p:spPr>
          <a:xfrm>
            <a:off x="742088" y="1524497"/>
            <a:ext cx="2826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>
                <a:solidFill>
                  <a:srgbClr val="00B050"/>
                </a:solidFill>
              </a:rPr>
              <a:t>Vždy </a:t>
            </a:r>
            <a:r>
              <a:rPr lang="cs-CZ" u="sng" dirty="0">
                <a:solidFill>
                  <a:srgbClr val="00B050"/>
                </a:solidFill>
              </a:rPr>
              <a:t>první</a:t>
            </a:r>
            <a:r>
              <a:rPr lang="cs-CZ" dirty="0">
                <a:solidFill>
                  <a:srgbClr val="00B050"/>
                </a:solidFill>
              </a:rPr>
              <a:t> datum odevzdání</a:t>
            </a:r>
          </a:p>
          <a:p>
            <a:r>
              <a:rPr lang="cs-CZ" dirty="0">
                <a:solidFill>
                  <a:srgbClr val="00B050"/>
                </a:solidFill>
              </a:rPr>
              <a:t>(i když odevzdáte později)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02376540-5EE6-B78A-50C7-E9A9EEA9CCB9}"/>
              </a:ext>
            </a:extLst>
          </p:cNvPr>
          <p:cNvSpPr txBox="1"/>
          <p:nvPr/>
        </p:nvSpPr>
        <p:spPr>
          <a:xfrm>
            <a:off x="10446528" y="1767489"/>
            <a:ext cx="18268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rgbClr val="7030A0"/>
                </a:solidFill>
              </a:rPr>
              <a:t>Vyplňujeme až po dokončení celého protokolu, počet stránek je BEZ DESEK</a:t>
            </a:r>
          </a:p>
        </p:txBody>
      </p:sp>
      <p:cxnSp>
        <p:nvCxnSpPr>
          <p:cNvPr id="21" name="Přímá spojnice se šipkou 20">
            <a:extLst>
              <a:ext uri="{FF2B5EF4-FFF2-40B4-BE49-F238E27FC236}">
                <a16:creationId xmlns:a16="http://schemas.microsoft.com/office/drawing/2014/main" id="{718B79DD-833A-2082-0393-F5DE9B65B4F2}"/>
              </a:ext>
            </a:extLst>
          </p:cNvPr>
          <p:cNvCxnSpPr>
            <a:cxnSpLocks/>
          </p:cNvCxnSpPr>
          <p:nvPr/>
        </p:nvCxnSpPr>
        <p:spPr>
          <a:xfrm flipV="1">
            <a:off x="10369746" y="2580223"/>
            <a:ext cx="755797" cy="243512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Přímá spojnice se šipkou 6">
            <a:extLst>
              <a:ext uri="{FF2B5EF4-FFF2-40B4-BE49-F238E27FC236}">
                <a16:creationId xmlns:a16="http://schemas.microsoft.com/office/drawing/2014/main" id="{CC029874-AE7C-1EEC-95F8-DB92235A5B3B}"/>
              </a:ext>
            </a:extLst>
          </p:cNvPr>
          <p:cNvCxnSpPr>
            <a:cxnSpLocks/>
            <a:endCxn id="11" idx="3"/>
          </p:cNvCxnSpPr>
          <p:nvPr/>
        </p:nvCxnSpPr>
        <p:spPr>
          <a:xfrm flipH="1" flipV="1">
            <a:off x="3568824" y="3161800"/>
            <a:ext cx="1793751" cy="16603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bdélník 8">
            <a:extLst>
              <a:ext uri="{FF2B5EF4-FFF2-40B4-BE49-F238E27FC236}">
                <a16:creationId xmlns:a16="http://schemas.microsoft.com/office/drawing/2014/main" id="{E43CCBA3-4FED-4A1D-B364-1C5D9B9644F3}"/>
              </a:ext>
            </a:extLst>
          </p:cNvPr>
          <p:cNvSpPr/>
          <p:nvPr/>
        </p:nvSpPr>
        <p:spPr>
          <a:xfrm>
            <a:off x="9121140" y="1188720"/>
            <a:ext cx="1248606" cy="33577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030F4D0C-A8CE-A036-5AF2-3F4377B176BD}"/>
              </a:ext>
            </a:extLst>
          </p:cNvPr>
          <p:cNvSpPr/>
          <p:nvPr/>
        </p:nvSpPr>
        <p:spPr>
          <a:xfrm>
            <a:off x="9101045" y="1851660"/>
            <a:ext cx="1145219" cy="144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6" name="Obdélník 15">
            <a:extLst>
              <a:ext uri="{FF2B5EF4-FFF2-40B4-BE49-F238E27FC236}">
                <a16:creationId xmlns:a16="http://schemas.microsoft.com/office/drawing/2014/main" id="{5DA09CAF-2959-4FA4-8DC4-666337FF3F51}"/>
              </a:ext>
            </a:extLst>
          </p:cNvPr>
          <p:cNvSpPr/>
          <p:nvPr/>
        </p:nvSpPr>
        <p:spPr>
          <a:xfrm>
            <a:off x="6012180" y="1645563"/>
            <a:ext cx="2314497" cy="33577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04C40A6C-5EE9-CFDB-CC99-C7CBE73387A4}"/>
              </a:ext>
            </a:extLst>
          </p:cNvPr>
          <p:cNvSpPr/>
          <p:nvPr/>
        </p:nvSpPr>
        <p:spPr>
          <a:xfrm>
            <a:off x="6370320" y="2073425"/>
            <a:ext cx="1512570" cy="33577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3" name="Obdélník 22">
            <a:extLst>
              <a:ext uri="{FF2B5EF4-FFF2-40B4-BE49-F238E27FC236}">
                <a16:creationId xmlns:a16="http://schemas.microsoft.com/office/drawing/2014/main" id="{CE7FAD5F-157E-8B02-3B65-C4086D9210D3}"/>
              </a:ext>
            </a:extLst>
          </p:cNvPr>
          <p:cNvSpPr/>
          <p:nvPr/>
        </p:nvSpPr>
        <p:spPr>
          <a:xfrm>
            <a:off x="9204433" y="2275120"/>
            <a:ext cx="1145219" cy="144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4" name="Obdélník 23">
            <a:extLst>
              <a:ext uri="{FF2B5EF4-FFF2-40B4-BE49-F238E27FC236}">
                <a16:creationId xmlns:a16="http://schemas.microsoft.com/office/drawing/2014/main" id="{6994DC9A-EFDB-E1A0-B974-2CC082A685A1}"/>
              </a:ext>
            </a:extLst>
          </p:cNvPr>
          <p:cNvSpPr/>
          <p:nvPr/>
        </p:nvSpPr>
        <p:spPr>
          <a:xfrm>
            <a:off x="4061535" y="2701979"/>
            <a:ext cx="1145219" cy="144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5" name="Obdélník 24">
            <a:extLst>
              <a:ext uri="{FF2B5EF4-FFF2-40B4-BE49-F238E27FC236}">
                <a16:creationId xmlns:a16="http://schemas.microsoft.com/office/drawing/2014/main" id="{9022E9CB-7BF2-B31C-42A4-B7686F2AA35F}"/>
              </a:ext>
            </a:extLst>
          </p:cNvPr>
          <p:cNvSpPr/>
          <p:nvPr/>
        </p:nvSpPr>
        <p:spPr>
          <a:xfrm>
            <a:off x="5751297" y="2701979"/>
            <a:ext cx="1145219" cy="144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6" name="Obdélník 25">
            <a:extLst>
              <a:ext uri="{FF2B5EF4-FFF2-40B4-BE49-F238E27FC236}">
                <a16:creationId xmlns:a16="http://schemas.microsoft.com/office/drawing/2014/main" id="{EDF4D30B-376E-0B3E-5A90-01FB64B3EA3D}"/>
              </a:ext>
            </a:extLst>
          </p:cNvPr>
          <p:cNvSpPr/>
          <p:nvPr/>
        </p:nvSpPr>
        <p:spPr>
          <a:xfrm>
            <a:off x="7420048" y="2696772"/>
            <a:ext cx="1145219" cy="144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4" name="Ovál 13">
            <a:extLst>
              <a:ext uri="{FF2B5EF4-FFF2-40B4-BE49-F238E27FC236}">
                <a16:creationId xmlns:a16="http://schemas.microsoft.com/office/drawing/2014/main" id="{9A380C8E-F835-BE11-BD13-F68EAE5885EF}"/>
              </a:ext>
            </a:extLst>
          </p:cNvPr>
          <p:cNvSpPr/>
          <p:nvPr/>
        </p:nvSpPr>
        <p:spPr>
          <a:xfrm>
            <a:off x="7141431" y="2271320"/>
            <a:ext cx="1811045" cy="752059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cxnSp>
        <p:nvCxnSpPr>
          <p:cNvPr id="17" name="Přímá spojnice se šipkou 16">
            <a:extLst>
              <a:ext uri="{FF2B5EF4-FFF2-40B4-BE49-F238E27FC236}">
                <a16:creationId xmlns:a16="http://schemas.microsoft.com/office/drawing/2014/main" id="{94242C33-0719-E976-B5AE-6CF8C36B1CC4}"/>
              </a:ext>
            </a:extLst>
          </p:cNvPr>
          <p:cNvCxnSpPr/>
          <p:nvPr/>
        </p:nvCxnSpPr>
        <p:spPr>
          <a:xfrm flipH="1" flipV="1">
            <a:off x="3320250" y="2015231"/>
            <a:ext cx="3773008" cy="523783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bdélník 26">
            <a:extLst>
              <a:ext uri="{FF2B5EF4-FFF2-40B4-BE49-F238E27FC236}">
                <a16:creationId xmlns:a16="http://schemas.microsoft.com/office/drawing/2014/main" id="{481A0291-34DD-D994-E28F-1ADE1556F10B}"/>
              </a:ext>
            </a:extLst>
          </p:cNvPr>
          <p:cNvSpPr/>
          <p:nvPr/>
        </p:nvSpPr>
        <p:spPr>
          <a:xfrm>
            <a:off x="9154352" y="2693714"/>
            <a:ext cx="1145219" cy="144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8" name="Ovál 17">
            <a:extLst>
              <a:ext uri="{FF2B5EF4-FFF2-40B4-BE49-F238E27FC236}">
                <a16:creationId xmlns:a16="http://schemas.microsoft.com/office/drawing/2014/main" id="{21D71887-BB39-C0D1-E73B-8091E9FC9A88}"/>
              </a:ext>
            </a:extLst>
          </p:cNvPr>
          <p:cNvSpPr/>
          <p:nvPr/>
        </p:nvSpPr>
        <p:spPr>
          <a:xfrm>
            <a:off x="9152739" y="2445926"/>
            <a:ext cx="1145219" cy="541904"/>
          </a:xfrm>
          <a:prstGeom prst="ellipse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8" name="Obdélník 27">
            <a:extLst>
              <a:ext uri="{FF2B5EF4-FFF2-40B4-BE49-F238E27FC236}">
                <a16:creationId xmlns:a16="http://schemas.microsoft.com/office/drawing/2014/main" id="{30DBAE86-3FE4-6129-340A-A07D4056161D}"/>
              </a:ext>
            </a:extLst>
          </p:cNvPr>
          <p:cNvSpPr/>
          <p:nvPr/>
        </p:nvSpPr>
        <p:spPr>
          <a:xfrm>
            <a:off x="5507484" y="3302666"/>
            <a:ext cx="1243170" cy="2392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9" name="Obdélník 28">
            <a:extLst>
              <a:ext uri="{FF2B5EF4-FFF2-40B4-BE49-F238E27FC236}">
                <a16:creationId xmlns:a16="http://schemas.microsoft.com/office/drawing/2014/main" id="{C0E69817-F04F-8817-F70A-E6F3360869DE}"/>
              </a:ext>
            </a:extLst>
          </p:cNvPr>
          <p:cNvSpPr/>
          <p:nvPr/>
        </p:nvSpPr>
        <p:spPr>
          <a:xfrm>
            <a:off x="4952944" y="4221294"/>
            <a:ext cx="4392986" cy="83433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0" name="Ovál 9">
            <a:extLst>
              <a:ext uri="{FF2B5EF4-FFF2-40B4-BE49-F238E27FC236}">
                <a16:creationId xmlns:a16="http://schemas.microsoft.com/office/drawing/2014/main" id="{CE10DEC0-48B0-52C9-B5AF-CBFDBA5CB50B}"/>
              </a:ext>
            </a:extLst>
          </p:cNvPr>
          <p:cNvSpPr/>
          <p:nvPr/>
        </p:nvSpPr>
        <p:spPr>
          <a:xfrm>
            <a:off x="4565342" y="4136995"/>
            <a:ext cx="5055832" cy="943570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30" name="Obdélník 29">
            <a:extLst>
              <a:ext uri="{FF2B5EF4-FFF2-40B4-BE49-F238E27FC236}">
                <a16:creationId xmlns:a16="http://schemas.microsoft.com/office/drawing/2014/main" id="{1204A2A2-6A39-0EDC-CCFE-2B19098AE7E8}"/>
              </a:ext>
            </a:extLst>
          </p:cNvPr>
          <p:cNvSpPr/>
          <p:nvPr/>
        </p:nvSpPr>
        <p:spPr>
          <a:xfrm>
            <a:off x="3784888" y="5429970"/>
            <a:ext cx="5050502" cy="36741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31" name="Obdélník 30">
            <a:extLst>
              <a:ext uri="{FF2B5EF4-FFF2-40B4-BE49-F238E27FC236}">
                <a16:creationId xmlns:a16="http://schemas.microsoft.com/office/drawing/2014/main" id="{2744E4E5-43C2-FB56-4372-E96DE18113DC}"/>
              </a:ext>
            </a:extLst>
          </p:cNvPr>
          <p:cNvSpPr/>
          <p:nvPr/>
        </p:nvSpPr>
        <p:spPr>
          <a:xfrm>
            <a:off x="3793174" y="5852315"/>
            <a:ext cx="5042216" cy="526611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32" name="Obdélník 31">
            <a:extLst>
              <a:ext uri="{FF2B5EF4-FFF2-40B4-BE49-F238E27FC236}">
                <a16:creationId xmlns:a16="http://schemas.microsoft.com/office/drawing/2014/main" id="{9A87C2A8-803C-5907-FE52-693B23E7EB0B}"/>
              </a:ext>
            </a:extLst>
          </p:cNvPr>
          <p:cNvSpPr/>
          <p:nvPr/>
        </p:nvSpPr>
        <p:spPr>
          <a:xfrm>
            <a:off x="3784888" y="6461652"/>
            <a:ext cx="5042216" cy="33961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5" name="Ovál 4">
            <a:extLst>
              <a:ext uri="{FF2B5EF4-FFF2-40B4-BE49-F238E27FC236}">
                <a16:creationId xmlns:a16="http://schemas.microsoft.com/office/drawing/2014/main" id="{9ADB4937-A56D-5D3E-C3B5-E0C8BADD514A}"/>
              </a:ext>
            </a:extLst>
          </p:cNvPr>
          <p:cNvSpPr/>
          <p:nvPr/>
        </p:nvSpPr>
        <p:spPr>
          <a:xfrm>
            <a:off x="3320250" y="5110556"/>
            <a:ext cx="5734974" cy="169071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3" name="Ovál 2">
            <a:extLst>
              <a:ext uri="{FF2B5EF4-FFF2-40B4-BE49-F238E27FC236}">
                <a16:creationId xmlns:a16="http://schemas.microsoft.com/office/drawing/2014/main" id="{326BC350-BFD2-4228-14A5-7E8245D7BC40}"/>
              </a:ext>
            </a:extLst>
          </p:cNvPr>
          <p:cNvSpPr/>
          <p:nvPr/>
        </p:nvSpPr>
        <p:spPr>
          <a:xfrm>
            <a:off x="8768131" y="916445"/>
            <a:ext cx="1811045" cy="752059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cxnSp>
        <p:nvCxnSpPr>
          <p:cNvPr id="22" name="Přímá spojnice se šipkou 21">
            <a:extLst>
              <a:ext uri="{FF2B5EF4-FFF2-40B4-BE49-F238E27FC236}">
                <a16:creationId xmlns:a16="http://schemas.microsoft.com/office/drawing/2014/main" id="{3C49C3DA-4E35-FA51-5141-C2FB002158FB}"/>
              </a:ext>
            </a:extLst>
          </p:cNvPr>
          <p:cNvCxnSpPr>
            <a:cxnSpLocks/>
          </p:cNvCxnSpPr>
          <p:nvPr/>
        </p:nvCxnSpPr>
        <p:spPr>
          <a:xfrm flipV="1">
            <a:off x="10668548" y="1171950"/>
            <a:ext cx="597215" cy="271229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ovéPole 32">
            <a:extLst>
              <a:ext uri="{FF2B5EF4-FFF2-40B4-BE49-F238E27FC236}">
                <a16:creationId xmlns:a16="http://schemas.microsoft.com/office/drawing/2014/main" id="{7FAD8BDE-0030-E563-0458-32F7919F697E}"/>
              </a:ext>
            </a:extLst>
          </p:cNvPr>
          <p:cNvSpPr txBox="1"/>
          <p:nvPr/>
        </p:nvSpPr>
        <p:spPr>
          <a:xfrm>
            <a:off x="11005164" y="248620"/>
            <a:ext cx="1268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rgbClr val="FFFF00"/>
                </a:solidFill>
              </a:rPr>
              <a:t>Při jakém předmětu měříte</a:t>
            </a:r>
          </a:p>
        </p:txBody>
      </p:sp>
    </p:spTree>
    <p:extLst>
      <p:ext uri="{BB962C8B-B14F-4D97-AF65-F5344CB8AC3E}">
        <p14:creationId xmlns:p14="http://schemas.microsoft.com/office/powerpoint/2010/main" val="28096660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5" grpId="0"/>
      <p:bldP spid="19" grpId="0"/>
      <p:bldP spid="9" grpId="0" animBg="1"/>
      <p:bldP spid="12" grpId="0" animBg="1"/>
      <p:bldP spid="16" grpId="0" animBg="1"/>
      <p:bldP spid="20" grpId="0" animBg="1"/>
      <p:bldP spid="23" grpId="0" animBg="1"/>
      <p:bldP spid="24" grpId="0" animBg="1"/>
      <p:bldP spid="25" grpId="0" animBg="1"/>
      <p:bldP spid="26" grpId="0" animBg="1"/>
      <p:bldP spid="14" grpId="0" animBg="1"/>
      <p:bldP spid="27" grpId="0" animBg="1"/>
      <p:bldP spid="18" grpId="0" animBg="1"/>
      <p:bldP spid="28" grpId="0" animBg="1"/>
      <p:bldP spid="29" grpId="0" animBg="1"/>
      <p:bldP spid="10" grpId="0" animBg="1"/>
      <p:bldP spid="30" grpId="0" animBg="1"/>
      <p:bldP spid="31" grpId="0" animBg="1"/>
      <p:bldP spid="32" grpId="0" animBg="1"/>
      <p:bldP spid="5" grpId="0" animBg="1"/>
      <p:bldP spid="3" grpId="0" animBg="1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8FD37B-DF8F-A40A-A903-56146D316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7657"/>
            <a:ext cx="10515600" cy="1325563"/>
          </a:xfrm>
        </p:spPr>
        <p:txBody>
          <a:bodyPr/>
          <a:lstStyle/>
          <a:p>
            <a:r>
              <a:rPr lang="cs-CZ" b="1" i="1" dirty="0"/>
              <a:t>Co vše patří do protokolu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D5FC89A-2048-B082-06B4-741297AB2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3466"/>
            <a:ext cx="11123478" cy="4351338"/>
          </a:xfrm>
        </p:spPr>
        <p:txBody>
          <a:bodyPr/>
          <a:lstStyle/>
          <a:p>
            <a:r>
              <a:rPr lang="cs-CZ" dirty="0"/>
              <a:t>Najdete na poslední straně desek, jednotlivé části protokolu řaďte přesně za sebou podle seznamu na zadní straně desek</a:t>
            </a:r>
          </a:p>
          <a:p>
            <a:r>
              <a:rPr lang="cs-CZ" dirty="0"/>
              <a:t>Po vyplnění protokolu na deskách označíte, zda jste danou část splnili</a:t>
            </a:r>
          </a:p>
          <a:p>
            <a:pPr marL="0" indent="0">
              <a:buNone/>
            </a:pPr>
            <a:r>
              <a:rPr lang="cs-CZ" dirty="0"/>
              <a:t>„/“ pro splněno, „-“ pro nesplněno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BDF73B9-D772-9418-25D0-95368CD9B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11" y="2637829"/>
            <a:ext cx="5533111" cy="4019524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F7277A01-0E2C-10BF-92BD-1A4EAB261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73351"/>
            <a:ext cx="5638800" cy="434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5665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DAA65B-95B2-A070-4E42-AB17DFA84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>
                <a:highlight>
                  <a:srgbClr val="FFFF00"/>
                </a:highlight>
              </a:rPr>
              <a:t>Schéma zapojení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759A434-BDB5-DCCA-9B29-023FE5EC5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9396"/>
            <a:ext cx="10515600" cy="4351338"/>
          </a:xfrm>
        </p:spPr>
        <p:txBody>
          <a:bodyPr/>
          <a:lstStyle/>
          <a:p>
            <a:r>
              <a:rPr lang="cs-CZ" dirty="0"/>
              <a:t>Lze najít na internetu nebo v zadání, někdy musíte vymyslet sami</a:t>
            </a:r>
          </a:p>
          <a:p>
            <a:r>
              <a:rPr lang="cs-CZ" dirty="0"/>
              <a:t>Překreslit ideálně v AutoCadu/ProfiCadu/ručně</a:t>
            </a:r>
          </a:p>
          <a:p>
            <a:r>
              <a:rPr lang="cs-CZ" dirty="0"/>
              <a:t>Součástky ve schématu musí být </a:t>
            </a:r>
            <a:r>
              <a:rPr lang="cs-CZ" b="1" dirty="0">
                <a:solidFill>
                  <a:srgbClr val="FF0000"/>
                </a:solidFill>
                <a:highlight>
                  <a:srgbClr val="FFFF00"/>
                </a:highlight>
              </a:rPr>
              <a:t>VŽDY podle normy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6349D3C-90E7-5B67-4F14-19B245EF41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49"/>
          <a:stretch/>
        </p:blipFill>
        <p:spPr>
          <a:xfrm>
            <a:off x="7528264" y="3110838"/>
            <a:ext cx="4003090" cy="3716734"/>
          </a:xfrm>
          <a:prstGeom prst="rect">
            <a:avLst/>
          </a:prstGeom>
        </p:spPr>
      </p:pic>
      <p:pic>
        <p:nvPicPr>
          <p:cNvPr id="1026" name="Picture 2" descr="Prohlížeč výkresů pro Android – Aplikace na Google Play">
            <a:extLst>
              <a:ext uri="{FF2B5EF4-FFF2-40B4-BE49-F238E27FC236}">
                <a16:creationId xmlns:a16="http://schemas.microsoft.com/office/drawing/2014/main" id="{FE0CF9DC-BBAF-E779-66AA-322084566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074" y="3316545"/>
            <a:ext cx="1748902" cy="1748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fiCAD - Elektro CAD Software">
            <a:extLst>
              <a:ext uri="{FF2B5EF4-FFF2-40B4-BE49-F238E27FC236}">
                <a16:creationId xmlns:a16="http://schemas.microsoft.com/office/drawing/2014/main" id="{F5604816-F6B0-60D3-188A-8D159ADCD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65447"/>
            <a:ext cx="6115050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44147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ázek 9">
            <a:extLst>
              <a:ext uri="{FF2B5EF4-FFF2-40B4-BE49-F238E27FC236}">
                <a16:creationId xmlns:a16="http://schemas.microsoft.com/office/drawing/2014/main" id="{30C508A3-5D97-BCE6-27D2-BF9F27EA6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" r="452"/>
          <a:stretch/>
        </p:blipFill>
        <p:spPr>
          <a:xfrm>
            <a:off x="1316276" y="2445323"/>
            <a:ext cx="9701489" cy="3872247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6BB77F67-CD85-14A1-9922-28FDBCE6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455"/>
            <a:ext cx="10515600" cy="1325563"/>
          </a:xfrm>
        </p:spPr>
        <p:txBody>
          <a:bodyPr/>
          <a:lstStyle/>
          <a:p>
            <a:r>
              <a:rPr lang="cs-CZ" b="1" i="1" dirty="0">
                <a:highlight>
                  <a:srgbClr val="FFFF00"/>
                </a:highlight>
              </a:rPr>
              <a:t>Použité přístroje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A5FDE73-CCA8-6BAE-9D6F-D00AD248B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Tabulku naleznete na Filru (viz 5. slide)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685DA775-FD21-47FF-C52F-0D0F536FC779}"/>
              </a:ext>
            </a:extLst>
          </p:cNvPr>
          <p:cNvSpPr/>
          <p:nvPr/>
        </p:nvSpPr>
        <p:spPr>
          <a:xfrm>
            <a:off x="3180440" y="4497736"/>
            <a:ext cx="1967631" cy="57718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02374C3D-0D05-DC3B-C434-31472BDF7CB9}"/>
              </a:ext>
            </a:extLst>
          </p:cNvPr>
          <p:cNvSpPr/>
          <p:nvPr/>
        </p:nvSpPr>
        <p:spPr>
          <a:xfrm>
            <a:off x="5429863" y="4497735"/>
            <a:ext cx="1967631" cy="57718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FE102C28-C358-199E-86B4-9609E196C0C8}"/>
              </a:ext>
            </a:extLst>
          </p:cNvPr>
          <p:cNvSpPr/>
          <p:nvPr/>
        </p:nvSpPr>
        <p:spPr>
          <a:xfrm>
            <a:off x="7552944" y="4497734"/>
            <a:ext cx="1502368" cy="7874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F351A555-955D-2A6E-1179-D4052E1E182E}"/>
              </a:ext>
            </a:extLst>
          </p:cNvPr>
          <p:cNvSpPr/>
          <p:nvPr/>
        </p:nvSpPr>
        <p:spPr>
          <a:xfrm>
            <a:off x="9136578" y="4497734"/>
            <a:ext cx="1572079" cy="7874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097206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77F67-CD85-14A1-9922-28FDBCE6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1383"/>
            <a:ext cx="10515600" cy="1325563"/>
          </a:xfrm>
        </p:spPr>
        <p:txBody>
          <a:bodyPr/>
          <a:lstStyle/>
          <a:p>
            <a:r>
              <a:rPr lang="cs-CZ" dirty="0"/>
              <a:t>Použité přístroje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A5FDE73-CCA8-6BAE-9D6F-D00AD248B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„Označení ve schématu“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485C401-F2F3-3F37-7E8D-D59DF6B37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" r="452"/>
          <a:stretch/>
        </p:blipFill>
        <p:spPr>
          <a:xfrm>
            <a:off x="1245255" y="2439653"/>
            <a:ext cx="9701489" cy="3872247"/>
          </a:xfrm>
          <a:prstGeom prst="rect">
            <a:avLst/>
          </a:prstGeom>
        </p:spPr>
      </p:pic>
      <p:sp>
        <p:nvSpPr>
          <p:cNvPr id="4" name="Ovál 3">
            <a:extLst>
              <a:ext uri="{FF2B5EF4-FFF2-40B4-BE49-F238E27FC236}">
                <a16:creationId xmlns:a16="http://schemas.microsoft.com/office/drawing/2014/main" id="{3FEFC277-5E9E-0798-E817-A14DBC8F50AE}"/>
              </a:ext>
            </a:extLst>
          </p:cNvPr>
          <p:cNvSpPr/>
          <p:nvPr/>
        </p:nvSpPr>
        <p:spPr>
          <a:xfrm>
            <a:off x="1420427" y="3338004"/>
            <a:ext cx="1944210" cy="20862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9F66AD30-B0C6-0ECE-0549-6A5CDA061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096" y="385100"/>
            <a:ext cx="4433842" cy="248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63322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4485C401-F2F3-3F37-7E8D-D59DF6B37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" r="452"/>
          <a:stretch/>
        </p:blipFill>
        <p:spPr>
          <a:xfrm>
            <a:off x="1245255" y="2439653"/>
            <a:ext cx="9701489" cy="3872247"/>
          </a:xfrm>
          <a:prstGeom prst="rect">
            <a:avLst/>
          </a:prstGeom>
        </p:spPr>
      </p:pic>
      <p:pic>
        <p:nvPicPr>
          <p:cNvPr id="6" name="Obrázek 5" descr="Obsah obrázku text, interiér, zařízení&#10;&#10;Popis byl vytvořen automaticky">
            <a:extLst>
              <a:ext uri="{FF2B5EF4-FFF2-40B4-BE49-F238E27FC236}">
                <a16:creationId xmlns:a16="http://schemas.microsoft.com/office/drawing/2014/main" id="{DDD0DD29-21E1-0976-E455-C59EFFCC2EE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61" b="17084"/>
          <a:stretch/>
        </p:blipFill>
        <p:spPr>
          <a:xfrm>
            <a:off x="6308506" y="440256"/>
            <a:ext cx="5566857" cy="2844695"/>
          </a:xfrm>
          <a:prstGeom prst="rect">
            <a:avLst/>
          </a:prstGeom>
        </p:spPr>
      </p:pic>
      <p:pic>
        <p:nvPicPr>
          <p:cNvPr id="12" name="Obrázek 11" descr="Obsah obrázku text&#10;&#10;Popis byl vytvořen automaticky">
            <a:extLst>
              <a:ext uri="{FF2B5EF4-FFF2-40B4-BE49-F238E27FC236}">
                <a16:creationId xmlns:a16="http://schemas.microsoft.com/office/drawing/2014/main" id="{E09D16AD-7627-7B53-6AAD-3218191E2E3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81" r="20462" b="7964"/>
          <a:stretch/>
        </p:blipFill>
        <p:spPr>
          <a:xfrm>
            <a:off x="316636" y="0"/>
            <a:ext cx="5759765" cy="3597122"/>
          </a:xfrm>
          <a:prstGeom prst="rect">
            <a:avLst/>
          </a:prstGeom>
        </p:spPr>
      </p:pic>
      <p:sp>
        <p:nvSpPr>
          <p:cNvPr id="13" name="Ovál 12">
            <a:extLst>
              <a:ext uri="{FF2B5EF4-FFF2-40B4-BE49-F238E27FC236}">
                <a16:creationId xmlns:a16="http://schemas.microsoft.com/office/drawing/2014/main" id="{88011FA7-047E-B5DB-E4BE-F47E3141D73D}"/>
              </a:ext>
            </a:extLst>
          </p:cNvPr>
          <p:cNvSpPr/>
          <p:nvPr/>
        </p:nvSpPr>
        <p:spPr>
          <a:xfrm>
            <a:off x="5092265" y="3497803"/>
            <a:ext cx="2432482" cy="200486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4" name="Ovál 13">
            <a:extLst>
              <a:ext uri="{FF2B5EF4-FFF2-40B4-BE49-F238E27FC236}">
                <a16:creationId xmlns:a16="http://schemas.microsoft.com/office/drawing/2014/main" id="{F5197D02-F489-E3AD-2E7E-7A5C61F85A08}"/>
              </a:ext>
            </a:extLst>
          </p:cNvPr>
          <p:cNvSpPr/>
          <p:nvPr/>
        </p:nvSpPr>
        <p:spPr>
          <a:xfrm>
            <a:off x="1826762" y="125806"/>
            <a:ext cx="2432482" cy="101941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cxnSp>
        <p:nvCxnSpPr>
          <p:cNvPr id="16" name="Přímá spojnice se šipkou 15">
            <a:extLst>
              <a:ext uri="{FF2B5EF4-FFF2-40B4-BE49-F238E27FC236}">
                <a16:creationId xmlns:a16="http://schemas.microsoft.com/office/drawing/2014/main" id="{E24D7402-3056-7108-C650-F10F6B70DAA6}"/>
              </a:ext>
            </a:extLst>
          </p:cNvPr>
          <p:cNvCxnSpPr>
            <a:cxnSpLocks/>
          </p:cNvCxnSpPr>
          <p:nvPr/>
        </p:nvCxnSpPr>
        <p:spPr>
          <a:xfrm flipH="1" flipV="1">
            <a:off x="3968318" y="1145220"/>
            <a:ext cx="1615736" cy="235258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ál 22">
            <a:extLst>
              <a:ext uri="{FF2B5EF4-FFF2-40B4-BE49-F238E27FC236}">
                <a16:creationId xmlns:a16="http://schemas.microsoft.com/office/drawing/2014/main" id="{19795F3D-2C48-556A-5523-3C73A15582D8}"/>
              </a:ext>
            </a:extLst>
          </p:cNvPr>
          <p:cNvSpPr/>
          <p:nvPr/>
        </p:nvSpPr>
        <p:spPr>
          <a:xfrm>
            <a:off x="7183708" y="3352431"/>
            <a:ext cx="2068497" cy="2295604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4" name="Ovál 23">
            <a:extLst>
              <a:ext uri="{FF2B5EF4-FFF2-40B4-BE49-F238E27FC236}">
                <a16:creationId xmlns:a16="http://schemas.microsoft.com/office/drawing/2014/main" id="{4C6A2824-D126-BE18-594E-83BCD11BB072}"/>
              </a:ext>
            </a:extLst>
          </p:cNvPr>
          <p:cNvSpPr/>
          <p:nvPr/>
        </p:nvSpPr>
        <p:spPr>
          <a:xfrm>
            <a:off x="9600786" y="1697825"/>
            <a:ext cx="2127681" cy="808223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cxnSp>
        <p:nvCxnSpPr>
          <p:cNvPr id="26" name="Přímá spojnice se šipkou 25">
            <a:extLst>
              <a:ext uri="{FF2B5EF4-FFF2-40B4-BE49-F238E27FC236}">
                <a16:creationId xmlns:a16="http://schemas.microsoft.com/office/drawing/2014/main" id="{22F16147-058A-E1F3-D083-7798AFC199AB}"/>
              </a:ext>
            </a:extLst>
          </p:cNvPr>
          <p:cNvCxnSpPr/>
          <p:nvPr/>
        </p:nvCxnSpPr>
        <p:spPr>
          <a:xfrm flipV="1">
            <a:off x="9091934" y="2547891"/>
            <a:ext cx="859934" cy="1118587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ál 1">
            <a:extLst>
              <a:ext uri="{FF2B5EF4-FFF2-40B4-BE49-F238E27FC236}">
                <a16:creationId xmlns:a16="http://schemas.microsoft.com/office/drawing/2014/main" id="{CF12C089-D5A0-F583-167B-2B8EDD9E5BB3}"/>
              </a:ext>
            </a:extLst>
          </p:cNvPr>
          <p:cNvSpPr/>
          <p:nvPr/>
        </p:nvSpPr>
        <p:spPr>
          <a:xfrm>
            <a:off x="2861011" y="3429000"/>
            <a:ext cx="2636668" cy="1999397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cxnSp>
        <p:nvCxnSpPr>
          <p:cNvPr id="7" name="Přímá spojnice se šipkou 6">
            <a:extLst>
              <a:ext uri="{FF2B5EF4-FFF2-40B4-BE49-F238E27FC236}">
                <a16:creationId xmlns:a16="http://schemas.microsoft.com/office/drawing/2014/main" id="{C2223F32-D962-9307-741A-C111DBDA718A}"/>
              </a:ext>
            </a:extLst>
          </p:cNvPr>
          <p:cNvCxnSpPr>
            <a:cxnSpLocks/>
          </p:cNvCxnSpPr>
          <p:nvPr/>
        </p:nvCxnSpPr>
        <p:spPr>
          <a:xfrm flipH="1">
            <a:off x="923278" y="5024761"/>
            <a:ext cx="1937733" cy="878889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ovéPole 7">
            <a:extLst>
              <a:ext uri="{FF2B5EF4-FFF2-40B4-BE49-F238E27FC236}">
                <a16:creationId xmlns:a16="http://schemas.microsoft.com/office/drawing/2014/main" id="{C7A30444-9576-D426-EC31-8E5A94FE6012}"/>
              </a:ext>
            </a:extLst>
          </p:cNvPr>
          <p:cNvSpPr txBox="1"/>
          <p:nvPr/>
        </p:nvSpPr>
        <p:spPr>
          <a:xfrm>
            <a:off x="115410" y="5903649"/>
            <a:ext cx="13050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rgbClr val="00B050"/>
                </a:solidFill>
              </a:rPr>
              <a:t>Jak jsme přístroj využili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DC00CDD5-F18B-5875-EEDA-256C00C20F8F}"/>
              </a:ext>
            </a:extLst>
          </p:cNvPr>
          <p:cNvSpPr txBox="1"/>
          <p:nvPr/>
        </p:nvSpPr>
        <p:spPr>
          <a:xfrm>
            <a:off x="2248458" y="1271026"/>
            <a:ext cx="1589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>
                <a:solidFill>
                  <a:srgbClr val="FF0000"/>
                </a:solidFill>
              </a:rPr>
              <a:t>Název přístroje</a:t>
            </a:r>
          </a:p>
        </p:txBody>
      </p:sp>
    </p:spTree>
    <p:extLst>
      <p:ext uri="{BB962C8B-B14F-4D97-AF65-F5344CB8AC3E}">
        <p14:creationId xmlns:p14="http://schemas.microsoft.com/office/powerpoint/2010/main" val="916113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23" grpId="0" animBg="1"/>
      <p:bldP spid="24" grpId="0" animBg="1"/>
      <p:bldP spid="2" grpId="0" animBg="1"/>
      <p:bldP spid="8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B81C7E-09FC-A41C-1B41-693410E93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 tabulky přístrojů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D208B50-ED6A-DAE8-5210-5C2AAC540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929" y="1390827"/>
            <a:ext cx="9442142" cy="523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36953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B81C7E-09FC-A41C-1B41-693410E93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 tabulky přístrojů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D421B2A4-E460-D2E2-F836-665B2FCB2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40" y="1983652"/>
            <a:ext cx="11557720" cy="415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19923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B92BBC-4FD5-D176-0513-1C676DE0A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>
                <a:highlight>
                  <a:srgbClr val="FFFF00"/>
                </a:highlight>
              </a:rPr>
              <a:t>Postup měření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636FB6A-B986-CC16-1265-5CABA685F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708473" cy="4351338"/>
          </a:xfrm>
        </p:spPr>
        <p:txBody>
          <a:bodyPr>
            <a:noAutofit/>
          </a:bodyPr>
          <a:lstStyle/>
          <a:p>
            <a:r>
              <a:rPr lang="cs-CZ" dirty="0"/>
              <a:t>Postup sestavíme na základě informací z Teoretického úvodu</a:t>
            </a:r>
          </a:p>
          <a:p>
            <a:r>
              <a:rPr lang="cs-CZ" dirty="0"/>
              <a:t>Většinou je doporučený postup součástí podkladů k jednotlivým úlohám</a:t>
            </a:r>
          </a:p>
          <a:p>
            <a:r>
              <a:rPr lang="cs-CZ" dirty="0"/>
              <a:t>Doporučený postup přepíšete do přítomného/minulého času v jednotném/množném čísle</a:t>
            </a:r>
          </a:p>
          <a:p>
            <a:r>
              <a:rPr lang="cs-CZ" dirty="0"/>
              <a:t>Už na samotné měření přinesete postup spolu s ostatními částmi přípravy</a:t>
            </a:r>
          </a:p>
          <a:p>
            <a:r>
              <a:rPr lang="cs-CZ" dirty="0"/>
              <a:t> Po samotném měření lze postup měření zdokonalit díky nově nabytým znalostem (např. měření jiným typem přístroje…)</a:t>
            </a:r>
          </a:p>
        </p:txBody>
      </p:sp>
    </p:spTree>
    <p:extLst>
      <p:ext uri="{BB962C8B-B14F-4D97-AF65-F5344CB8AC3E}">
        <p14:creationId xmlns:p14="http://schemas.microsoft.com/office/powerpoint/2010/main" val="30341713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41E0779-5A01-A179-153C-33ED916ACF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64" r="3093" b="47108"/>
          <a:stretch/>
        </p:blipFill>
        <p:spPr>
          <a:xfrm>
            <a:off x="116889" y="1764438"/>
            <a:ext cx="11958221" cy="2976238"/>
          </a:xfrm>
          <a:prstGeom prst="rect">
            <a:avLst/>
          </a:prstGeom>
        </p:spPr>
      </p:pic>
      <p:sp>
        <p:nvSpPr>
          <p:cNvPr id="4" name="Nadpis 3">
            <a:extLst>
              <a:ext uri="{FF2B5EF4-FFF2-40B4-BE49-F238E27FC236}">
                <a16:creationId xmlns:a16="http://schemas.microsoft.com/office/drawing/2014/main" id="{058375FA-FE5B-3145-2D75-7DFA3AAD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cs-CZ" dirty="0"/>
              <a:t>Příklad postupu měření</a:t>
            </a:r>
          </a:p>
        </p:txBody>
      </p:sp>
    </p:spTree>
    <p:extLst>
      <p:ext uri="{BB962C8B-B14F-4D97-AF65-F5344CB8AC3E}">
        <p14:creationId xmlns:p14="http://schemas.microsoft.com/office/powerpoint/2010/main" val="66647239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05BB11D-3705-87AD-CF01-45B16569F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>
                <a:highlight>
                  <a:srgbClr val="FFFF00"/>
                </a:highlight>
              </a:rPr>
              <a:t>Tabulky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A23967C-9F8E-C6EF-FCAD-36B5EFE82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5"/>
            <a:ext cx="9474198" cy="4351338"/>
          </a:xfrm>
        </p:spPr>
        <p:txBody>
          <a:bodyPr>
            <a:noAutofit/>
          </a:bodyPr>
          <a:lstStyle/>
          <a:p>
            <a:r>
              <a:rPr lang="cs-CZ" dirty="0"/>
              <a:t>Můžeme zapsat na papír během měření, doporučuje se ale hned zapsat do Excel tabulky (dle pokynů učitele)</a:t>
            </a:r>
          </a:p>
          <a:p>
            <a:r>
              <a:rPr lang="cs-CZ" dirty="0"/>
              <a:t>Hodnoty zapisovat okamžitě, zapamatovávat nebo fotit hodnoty na přístrojích se nedoporučuje, je v tom zmatek</a:t>
            </a:r>
          </a:p>
          <a:p>
            <a:r>
              <a:rPr lang="cs-CZ" dirty="0"/>
              <a:t>Často jsou předpřipravené tabulky k vyplnění v zadání</a:t>
            </a:r>
          </a:p>
          <a:p>
            <a:r>
              <a:rPr lang="cs-CZ" dirty="0"/>
              <a:t>Část tabulek se vyplní při měření, zbytek je často potřeba vypočítat vzorci, které si můžete před měřením do Excel tabulky připravit</a:t>
            </a:r>
          </a:p>
          <a:p>
            <a:r>
              <a:rPr lang="cs-CZ" dirty="0"/>
              <a:t>Vždy dávejte k tabulce její název, ať víte, k čemu hodnoty patří</a:t>
            </a:r>
          </a:p>
          <a:p>
            <a:r>
              <a:rPr lang="cs-CZ" dirty="0"/>
              <a:t>Hodnoty v tabulkách je nutné zaokrouhlovat na reálně měřenou hodnotu (omezit počet desetinných míst)</a:t>
            </a:r>
          </a:p>
        </p:txBody>
      </p:sp>
    </p:spTree>
    <p:extLst>
      <p:ext uri="{BB962C8B-B14F-4D97-AF65-F5344CB8AC3E}">
        <p14:creationId xmlns:p14="http://schemas.microsoft.com/office/powerpoint/2010/main" val="17701173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337E6392-6B47-DB93-C440-06318BB64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50" y="660730"/>
            <a:ext cx="9699240" cy="2182982"/>
          </a:xfrm>
          <a:prstGeom prst="rect">
            <a:avLst/>
          </a:prstGeom>
        </p:spPr>
      </p:pic>
      <p:pic>
        <p:nvPicPr>
          <p:cNvPr id="3" name="Obrázek 2">
            <a:extLst>
              <a:ext uri="{FF2B5EF4-FFF2-40B4-BE49-F238E27FC236}">
                <a16:creationId xmlns:a16="http://schemas.microsoft.com/office/drawing/2014/main" id="{25B01E74-937C-4781-41A2-37299A999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452" y="3650941"/>
            <a:ext cx="10427962" cy="3016189"/>
          </a:xfrm>
          <a:prstGeom prst="rect">
            <a:avLst/>
          </a:prstGeom>
        </p:spPr>
      </p:pic>
      <p:cxnSp>
        <p:nvCxnSpPr>
          <p:cNvPr id="5" name="Přímá spojnice se šipkou 4">
            <a:extLst>
              <a:ext uri="{FF2B5EF4-FFF2-40B4-BE49-F238E27FC236}">
                <a16:creationId xmlns:a16="http://schemas.microsoft.com/office/drawing/2014/main" id="{963F866C-3052-136D-C6B1-D1690441D1C9}"/>
              </a:ext>
            </a:extLst>
          </p:cNvPr>
          <p:cNvCxnSpPr>
            <a:cxnSpLocks/>
          </p:cNvCxnSpPr>
          <p:nvPr/>
        </p:nvCxnSpPr>
        <p:spPr>
          <a:xfrm>
            <a:off x="5910870" y="2941911"/>
            <a:ext cx="0" cy="709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bdélník 3">
            <a:extLst>
              <a:ext uri="{FF2B5EF4-FFF2-40B4-BE49-F238E27FC236}">
                <a16:creationId xmlns:a16="http://schemas.microsoft.com/office/drawing/2014/main" id="{DD4F19D4-0C9F-B10F-03D6-7BE77F1276A0}"/>
              </a:ext>
            </a:extLst>
          </p:cNvPr>
          <p:cNvSpPr/>
          <p:nvPr/>
        </p:nvSpPr>
        <p:spPr>
          <a:xfrm>
            <a:off x="8204197" y="5068018"/>
            <a:ext cx="846667" cy="34713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BD1ECA8C-8E6C-62B1-34BC-AB954EB022C5}"/>
              </a:ext>
            </a:extLst>
          </p:cNvPr>
          <p:cNvSpPr/>
          <p:nvPr/>
        </p:nvSpPr>
        <p:spPr>
          <a:xfrm>
            <a:off x="8204198" y="5509498"/>
            <a:ext cx="846667" cy="38330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D0ACA21C-81E8-AC9C-C696-DDD918B8F001}"/>
              </a:ext>
            </a:extLst>
          </p:cNvPr>
          <p:cNvSpPr/>
          <p:nvPr/>
        </p:nvSpPr>
        <p:spPr>
          <a:xfrm>
            <a:off x="8204197" y="5987147"/>
            <a:ext cx="846667" cy="38330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5A4E642E-25A9-B1F7-DFE0-89D835F5B0E2}"/>
              </a:ext>
            </a:extLst>
          </p:cNvPr>
          <p:cNvSpPr/>
          <p:nvPr/>
        </p:nvSpPr>
        <p:spPr>
          <a:xfrm>
            <a:off x="9813543" y="5545667"/>
            <a:ext cx="846667" cy="34713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9" name="Ovál 8">
            <a:extLst>
              <a:ext uri="{FF2B5EF4-FFF2-40B4-BE49-F238E27FC236}">
                <a16:creationId xmlns:a16="http://schemas.microsoft.com/office/drawing/2014/main" id="{68A45768-C904-3A60-9C1D-60C91FD28D51}"/>
              </a:ext>
            </a:extLst>
          </p:cNvPr>
          <p:cNvSpPr/>
          <p:nvPr/>
        </p:nvSpPr>
        <p:spPr>
          <a:xfrm>
            <a:off x="1061250" y="3806673"/>
            <a:ext cx="5078025" cy="79011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cxnSp>
        <p:nvCxnSpPr>
          <p:cNvPr id="10" name="Přímá spojnice se šipkou 9">
            <a:extLst>
              <a:ext uri="{FF2B5EF4-FFF2-40B4-BE49-F238E27FC236}">
                <a16:creationId xmlns:a16="http://schemas.microsoft.com/office/drawing/2014/main" id="{3E002AB4-F5ED-1799-BA15-FC04EAAC5655}"/>
              </a:ext>
            </a:extLst>
          </p:cNvPr>
          <p:cNvCxnSpPr>
            <a:cxnSpLocks/>
          </p:cNvCxnSpPr>
          <p:nvPr/>
        </p:nvCxnSpPr>
        <p:spPr>
          <a:xfrm flipH="1" flipV="1">
            <a:off x="1061250" y="3302493"/>
            <a:ext cx="980614" cy="4261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FC461E4A-C7E7-1971-BBAD-3C7D17D53FA7}"/>
              </a:ext>
            </a:extLst>
          </p:cNvPr>
          <p:cNvSpPr txBox="1"/>
          <p:nvPr/>
        </p:nvSpPr>
        <p:spPr>
          <a:xfrm>
            <a:off x="351223" y="2941911"/>
            <a:ext cx="4795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>
                <a:solidFill>
                  <a:srgbClr val="FF0000"/>
                </a:solidFill>
              </a:rPr>
              <a:t>Název tabulky vypovídá o tom, co jsme naměřili, </a:t>
            </a:r>
          </a:p>
          <a:p>
            <a:r>
              <a:rPr lang="cs-CZ" dirty="0">
                <a:solidFill>
                  <a:srgbClr val="FF0000"/>
                </a:solidFill>
              </a:rPr>
              <a:t>                                  ale název musí být správně !</a:t>
            </a:r>
          </a:p>
        </p:txBody>
      </p:sp>
      <p:cxnSp>
        <p:nvCxnSpPr>
          <p:cNvPr id="18" name="Přímá spojnice 17">
            <a:extLst>
              <a:ext uri="{FF2B5EF4-FFF2-40B4-BE49-F238E27FC236}">
                <a16:creationId xmlns:a16="http://schemas.microsoft.com/office/drawing/2014/main" id="{823361E5-F830-EFAD-D9E9-06D43A1FDDF7}"/>
              </a:ext>
            </a:extLst>
          </p:cNvPr>
          <p:cNvCxnSpPr/>
          <p:nvPr/>
        </p:nvCxnSpPr>
        <p:spPr>
          <a:xfrm>
            <a:off x="1189608" y="6596109"/>
            <a:ext cx="6347534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DCA40B47-D641-A08E-0555-0F5945ECA6C1}"/>
              </a:ext>
            </a:extLst>
          </p:cNvPr>
          <p:cNvSpPr txBox="1"/>
          <p:nvPr/>
        </p:nvSpPr>
        <p:spPr>
          <a:xfrm>
            <a:off x="27620" y="6047283"/>
            <a:ext cx="1182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rgbClr val="4472C4"/>
                </a:solidFill>
              </a:rPr>
              <a:t>Naměřené hodnoty</a:t>
            </a:r>
          </a:p>
        </p:txBody>
      </p:sp>
      <p:cxnSp>
        <p:nvCxnSpPr>
          <p:cNvPr id="21" name="Přímá spojnice 20">
            <a:extLst>
              <a:ext uri="{FF2B5EF4-FFF2-40B4-BE49-F238E27FC236}">
                <a16:creationId xmlns:a16="http://schemas.microsoft.com/office/drawing/2014/main" id="{8872DE41-FD79-A538-4C3F-A3F0085E6484}"/>
              </a:ext>
            </a:extLst>
          </p:cNvPr>
          <p:cNvCxnSpPr/>
          <p:nvPr/>
        </p:nvCxnSpPr>
        <p:spPr>
          <a:xfrm>
            <a:off x="7537142" y="4287915"/>
            <a:ext cx="1580225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Přímá spojnice 22">
            <a:extLst>
              <a:ext uri="{FF2B5EF4-FFF2-40B4-BE49-F238E27FC236}">
                <a16:creationId xmlns:a16="http://schemas.microsoft.com/office/drawing/2014/main" id="{619E3CD7-309C-7BDC-FB89-1FCAF63E6092}"/>
              </a:ext>
            </a:extLst>
          </p:cNvPr>
          <p:cNvCxnSpPr/>
          <p:nvPr/>
        </p:nvCxnSpPr>
        <p:spPr>
          <a:xfrm>
            <a:off x="9215021" y="4287915"/>
            <a:ext cx="1445189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ovéPole 23">
            <a:extLst>
              <a:ext uri="{FF2B5EF4-FFF2-40B4-BE49-F238E27FC236}">
                <a16:creationId xmlns:a16="http://schemas.microsoft.com/office/drawing/2014/main" id="{BCAC80F3-6403-2495-2B81-F27086E5C8CA}"/>
              </a:ext>
            </a:extLst>
          </p:cNvPr>
          <p:cNvSpPr txBox="1"/>
          <p:nvPr/>
        </p:nvSpPr>
        <p:spPr>
          <a:xfrm>
            <a:off x="7582231" y="3650940"/>
            <a:ext cx="1401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chemeClr val="accent6"/>
                </a:solidFill>
              </a:rPr>
              <a:t>Vypočítané hodnoty</a:t>
            </a:r>
          </a:p>
        </p:txBody>
      </p:sp>
      <p:sp>
        <p:nvSpPr>
          <p:cNvPr id="25" name="TextovéPole 24">
            <a:extLst>
              <a:ext uri="{FF2B5EF4-FFF2-40B4-BE49-F238E27FC236}">
                <a16:creationId xmlns:a16="http://schemas.microsoft.com/office/drawing/2014/main" id="{056344F8-E056-70BD-E07F-70D3A8050777}"/>
              </a:ext>
            </a:extLst>
          </p:cNvPr>
          <p:cNvSpPr txBox="1"/>
          <p:nvPr/>
        </p:nvSpPr>
        <p:spPr>
          <a:xfrm>
            <a:off x="9267541" y="3651417"/>
            <a:ext cx="1340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rgbClr val="FFC000"/>
                </a:solidFill>
              </a:rPr>
              <a:t>Aritmetický průměr</a:t>
            </a: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150CA53B-A7A3-4C7F-8216-D8D8674BDB14}"/>
              </a:ext>
            </a:extLst>
          </p:cNvPr>
          <p:cNvSpPr txBox="1"/>
          <p:nvPr/>
        </p:nvSpPr>
        <p:spPr>
          <a:xfrm>
            <a:off x="1061250" y="95719"/>
            <a:ext cx="37078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400" dirty="0">
                <a:latin typeface="+mj-lt"/>
                <a:ea typeface="+mj-ea"/>
                <a:cs typeface="+mj-cs"/>
              </a:rPr>
              <a:t>Příklady</a:t>
            </a:r>
            <a:r>
              <a:rPr lang="cs-CZ" dirty="0"/>
              <a:t> </a:t>
            </a:r>
            <a:r>
              <a:rPr lang="cs-CZ" sz="4400" dirty="0">
                <a:latin typeface="+mj-lt"/>
                <a:ea typeface="+mj-ea"/>
                <a:cs typeface="+mj-cs"/>
              </a:rPr>
              <a:t>tabulek</a:t>
            </a:r>
          </a:p>
        </p:txBody>
      </p:sp>
    </p:spTree>
    <p:extLst>
      <p:ext uri="{BB962C8B-B14F-4D97-AF65-F5344CB8AC3E}">
        <p14:creationId xmlns:p14="http://schemas.microsoft.com/office/powerpoint/2010/main" val="10179245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5" grpId="0"/>
      <p:bldP spid="19" grpId="0"/>
      <p:bldP spid="24" grpId="0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AA2C0F8-5CC8-A6E0-D0E4-B94645021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302" y="707248"/>
            <a:ext cx="8691394" cy="3064652"/>
          </a:xfrm>
          <a:prstGeom prst="rect">
            <a:avLst/>
          </a:prstGeom>
        </p:spPr>
      </p:pic>
      <p:pic>
        <p:nvPicPr>
          <p:cNvPr id="4" name="Obrázek 3">
            <a:extLst>
              <a:ext uri="{FF2B5EF4-FFF2-40B4-BE49-F238E27FC236}">
                <a16:creationId xmlns:a16="http://schemas.microsoft.com/office/drawing/2014/main" id="{A4514567-4953-5585-8731-5987DB919F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911" y="3885723"/>
            <a:ext cx="8336177" cy="2972277"/>
          </a:xfrm>
          <a:prstGeom prst="rect">
            <a:avLst/>
          </a:prstGeom>
        </p:spPr>
      </p:pic>
      <p:cxnSp>
        <p:nvCxnSpPr>
          <p:cNvPr id="5" name="Přímá spojnice se šipkou 4">
            <a:extLst>
              <a:ext uri="{FF2B5EF4-FFF2-40B4-BE49-F238E27FC236}">
                <a16:creationId xmlns:a16="http://schemas.microsoft.com/office/drawing/2014/main" id="{E147B7D8-B0D6-035D-DD49-79F9395A499E}"/>
              </a:ext>
            </a:extLst>
          </p:cNvPr>
          <p:cNvCxnSpPr/>
          <p:nvPr/>
        </p:nvCxnSpPr>
        <p:spPr>
          <a:xfrm>
            <a:off x="11388392" y="2757627"/>
            <a:ext cx="0" cy="134274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Přímá spojnice se šipkou 5">
            <a:extLst>
              <a:ext uri="{FF2B5EF4-FFF2-40B4-BE49-F238E27FC236}">
                <a16:creationId xmlns:a16="http://schemas.microsoft.com/office/drawing/2014/main" id="{963CDE6B-EB6D-FB06-816C-EFE0CA50E007}"/>
              </a:ext>
            </a:extLst>
          </p:cNvPr>
          <p:cNvCxnSpPr/>
          <p:nvPr/>
        </p:nvCxnSpPr>
        <p:spPr>
          <a:xfrm>
            <a:off x="708556" y="2757627"/>
            <a:ext cx="0" cy="134274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ovéPole 1">
            <a:extLst>
              <a:ext uri="{FF2B5EF4-FFF2-40B4-BE49-F238E27FC236}">
                <a16:creationId xmlns:a16="http://schemas.microsoft.com/office/drawing/2014/main" id="{AD1A4B53-FFF6-407E-C391-0348C0714674}"/>
              </a:ext>
            </a:extLst>
          </p:cNvPr>
          <p:cNvSpPr txBox="1"/>
          <p:nvPr/>
        </p:nvSpPr>
        <p:spPr>
          <a:xfrm>
            <a:off x="1061250" y="95719"/>
            <a:ext cx="47874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400" dirty="0">
                <a:latin typeface="+mj-lt"/>
                <a:ea typeface="+mj-ea"/>
                <a:cs typeface="+mj-cs"/>
              </a:rPr>
              <a:t>Příklad velké tabulky</a:t>
            </a:r>
          </a:p>
        </p:txBody>
      </p:sp>
    </p:spTree>
    <p:extLst>
      <p:ext uri="{BB962C8B-B14F-4D97-AF65-F5344CB8AC3E}">
        <p14:creationId xmlns:p14="http://schemas.microsoft.com/office/powerpoint/2010/main" val="36143416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EB0AEA-9F61-991A-AA01-8951A0A10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>
                <a:highlight>
                  <a:srgbClr val="FFFF00"/>
                </a:highlight>
              </a:rPr>
              <a:t>Příklady výpočtů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3B2D3B1-0B47-D5F5-48D3-3D51CFD01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620"/>
            <a:ext cx="9438861" cy="4351338"/>
          </a:xfrm>
        </p:spPr>
        <p:txBody>
          <a:bodyPr/>
          <a:lstStyle/>
          <a:p>
            <a:r>
              <a:rPr lang="cs-CZ" dirty="0"/>
              <a:t>Vypsání obecných vzorců</a:t>
            </a:r>
          </a:p>
          <a:p>
            <a:r>
              <a:rPr lang="cs-CZ" dirty="0"/>
              <a:t>Do vzorců doplníme konkrétní hodnoty, které jste reálně použili do tabulek</a:t>
            </a:r>
          </a:p>
          <a:p>
            <a:r>
              <a:rPr lang="cs-CZ" dirty="0"/>
              <a:t>Ke každému výpočtu patří informace, co nám vzorec vypočítá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642690C-A28B-2FA4-4981-1E5CA9D4C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034" y="3429000"/>
            <a:ext cx="6489931" cy="279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5731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EB0AEA-9F61-991A-AA01-8951A0A10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>
                <a:highlight>
                  <a:srgbClr val="FFFF00"/>
                </a:highlight>
              </a:rPr>
              <a:t>Příklady výpočtů</a:t>
            </a:r>
            <a:endParaRPr lang="cs-CZ" dirty="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7BDDF17A-CF66-016E-24A9-E90276DF5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369" y="2007747"/>
            <a:ext cx="9463261" cy="4485128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DD537125-9176-43AE-9955-B505BC1623A4}"/>
              </a:ext>
            </a:extLst>
          </p:cNvPr>
          <p:cNvSpPr/>
          <p:nvPr/>
        </p:nvSpPr>
        <p:spPr>
          <a:xfrm>
            <a:off x="3746377" y="4456590"/>
            <a:ext cx="3941685" cy="2485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96902956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ECA8E6-86D2-8D49-B6ED-8B22DE30F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>
                <a:highlight>
                  <a:srgbClr val="FFFF00"/>
                </a:highlight>
              </a:rPr>
              <a:t>Grafy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3BA271B-E801-DDF5-2D8E-F55C59FF3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Musí mít vždy název, který určí, ke které části zadání a tabulce patří</a:t>
            </a:r>
          </a:p>
          <a:p>
            <a:r>
              <a:rPr lang="cs-CZ" dirty="0"/>
              <a:t>V názvu grafu musí být uvedeny parametry testovaných součástek, obvodů nebo použitých metod</a:t>
            </a:r>
          </a:p>
        </p:txBody>
      </p:sp>
    </p:spTree>
    <p:extLst>
      <p:ext uri="{BB962C8B-B14F-4D97-AF65-F5344CB8AC3E}">
        <p14:creationId xmlns:p14="http://schemas.microsoft.com/office/powerpoint/2010/main" val="29216081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4F50390D-03DE-274D-D4AD-9A3062206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5863" y="1756814"/>
            <a:ext cx="8520274" cy="4761645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AD86B772-C6EB-5580-2B4C-C61E0ED8206A}"/>
              </a:ext>
            </a:extLst>
          </p:cNvPr>
          <p:cNvSpPr/>
          <p:nvPr/>
        </p:nvSpPr>
        <p:spPr>
          <a:xfrm>
            <a:off x="3231472" y="1837677"/>
            <a:ext cx="5894773" cy="39061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50A3C6DC-C0CB-DBFC-3D19-90F4C57DAB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50" y="481943"/>
            <a:ext cx="10401300" cy="822960"/>
          </a:xfrm>
          <a:prstGeom prst="rect">
            <a:avLst/>
          </a:prstGeom>
        </p:spPr>
      </p:pic>
      <p:sp>
        <p:nvSpPr>
          <p:cNvPr id="5" name="Ovál 4">
            <a:extLst>
              <a:ext uri="{FF2B5EF4-FFF2-40B4-BE49-F238E27FC236}">
                <a16:creationId xmlns:a16="http://schemas.microsoft.com/office/drawing/2014/main" id="{5648B422-5DB2-F737-2938-FF6D9E842DFC}"/>
              </a:ext>
            </a:extLst>
          </p:cNvPr>
          <p:cNvSpPr/>
          <p:nvPr/>
        </p:nvSpPr>
        <p:spPr>
          <a:xfrm>
            <a:off x="895350" y="481943"/>
            <a:ext cx="6149266" cy="55674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127074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1B1A41D0-F333-AC00-DFE7-864F81985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3835" y="0"/>
            <a:ext cx="7572118" cy="2508300"/>
          </a:xfrm>
          <a:prstGeom prst="rect">
            <a:avLst/>
          </a:prstGeom>
        </p:spPr>
      </p:pic>
      <p:pic>
        <p:nvPicPr>
          <p:cNvPr id="4" name="Obrázek 3">
            <a:extLst>
              <a:ext uri="{FF2B5EF4-FFF2-40B4-BE49-F238E27FC236}">
                <a16:creationId xmlns:a16="http://schemas.microsoft.com/office/drawing/2014/main" id="{F8AF6CB4-A54E-1CC1-0572-EBB5E5A70B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9883" y="2576962"/>
            <a:ext cx="6632231" cy="4279804"/>
          </a:xfrm>
          <a:prstGeom prst="rect">
            <a:avLst/>
          </a:prstGeom>
        </p:spPr>
      </p:pic>
      <p:sp>
        <p:nvSpPr>
          <p:cNvPr id="6" name="Ovál 5">
            <a:extLst>
              <a:ext uri="{FF2B5EF4-FFF2-40B4-BE49-F238E27FC236}">
                <a16:creationId xmlns:a16="http://schemas.microsoft.com/office/drawing/2014/main" id="{26073ABE-49E9-5822-E50D-AB7698249472}"/>
              </a:ext>
            </a:extLst>
          </p:cNvPr>
          <p:cNvSpPr/>
          <p:nvPr/>
        </p:nvSpPr>
        <p:spPr>
          <a:xfrm>
            <a:off x="4128116" y="1406549"/>
            <a:ext cx="6107837" cy="48587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" name="Obdélník 1">
            <a:extLst>
              <a:ext uri="{FF2B5EF4-FFF2-40B4-BE49-F238E27FC236}">
                <a16:creationId xmlns:a16="http://schemas.microsoft.com/office/drawing/2014/main" id="{556EDCD6-9BDD-9511-40BB-469D6F18CC17}"/>
              </a:ext>
            </a:extLst>
          </p:cNvPr>
          <p:cNvSpPr/>
          <p:nvPr/>
        </p:nvSpPr>
        <p:spPr>
          <a:xfrm>
            <a:off x="3148611" y="2606513"/>
            <a:ext cx="5894773" cy="39061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895529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ECA8E6-86D2-8D49-B6ED-8B22DE30F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>
                <a:highlight>
                  <a:srgbClr val="FFFF00"/>
                </a:highlight>
              </a:rPr>
              <a:t>Grafy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3BA271B-E801-DDF5-2D8E-F55C59FF3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Musí mít vždy název, který určí, ke které části zadání a tabulce patří</a:t>
            </a:r>
          </a:p>
          <a:p>
            <a:r>
              <a:rPr lang="cs-CZ" dirty="0"/>
              <a:t>V názvu grafu musí být uvedeny parametry testovaných součástek, obvodů nebo použitých metod</a:t>
            </a:r>
          </a:p>
          <a:p>
            <a:r>
              <a:rPr lang="cs-CZ" dirty="0"/>
              <a:t>Přehledné popisky a legenda</a:t>
            </a:r>
          </a:p>
        </p:txBody>
      </p:sp>
    </p:spTree>
    <p:extLst>
      <p:ext uri="{BB962C8B-B14F-4D97-AF65-F5344CB8AC3E}">
        <p14:creationId xmlns:p14="http://schemas.microsoft.com/office/powerpoint/2010/main" val="15660339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>
            <a:extLst>
              <a:ext uri="{FF2B5EF4-FFF2-40B4-BE49-F238E27FC236}">
                <a16:creationId xmlns:a16="http://schemas.microsoft.com/office/drawing/2014/main" id="{9B807531-1926-6FDB-F1FF-ABF7C11F0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3933" y="557074"/>
            <a:ext cx="12215933" cy="5743851"/>
          </a:xfrm>
          <a:prstGeom prst="rect">
            <a:avLst/>
          </a:prstGeom>
        </p:spPr>
      </p:pic>
      <p:sp>
        <p:nvSpPr>
          <p:cNvPr id="2" name="Obdélník 1">
            <a:extLst>
              <a:ext uri="{FF2B5EF4-FFF2-40B4-BE49-F238E27FC236}">
                <a16:creationId xmlns:a16="http://schemas.microsoft.com/office/drawing/2014/main" id="{BB670DC2-0140-F90B-3DC7-D2F9242C3F71}"/>
              </a:ext>
            </a:extLst>
          </p:cNvPr>
          <p:cNvSpPr/>
          <p:nvPr/>
        </p:nvSpPr>
        <p:spPr>
          <a:xfrm>
            <a:off x="257452" y="2752078"/>
            <a:ext cx="301841" cy="67692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C71D4767-5794-A3C0-F178-81B33DC6103C}"/>
              </a:ext>
            </a:extLst>
          </p:cNvPr>
          <p:cNvSpPr/>
          <p:nvPr/>
        </p:nvSpPr>
        <p:spPr>
          <a:xfrm>
            <a:off x="5939161" y="5202315"/>
            <a:ext cx="781235" cy="37286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FBADBCF9-A2A7-6590-CA51-1276DCEA1C37}"/>
              </a:ext>
            </a:extLst>
          </p:cNvPr>
          <p:cNvSpPr/>
          <p:nvPr/>
        </p:nvSpPr>
        <p:spPr>
          <a:xfrm>
            <a:off x="559293" y="1189608"/>
            <a:ext cx="301841" cy="37374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6BD03345-D015-6D0B-C6E1-8017FAC4C38B}"/>
              </a:ext>
            </a:extLst>
          </p:cNvPr>
          <p:cNvSpPr/>
          <p:nvPr/>
        </p:nvSpPr>
        <p:spPr>
          <a:xfrm>
            <a:off x="790114" y="4927107"/>
            <a:ext cx="11176986" cy="2752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6B8CF2E9-BC9B-C2ED-305E-B57D254FC833}"/>
              </a:ext>
            </a:extLst>
          </p:cNvPr>
          <p:cNvSpPr/>
          <p:nvPr/>
        </p:nvSpPr>
        <p:spPr>
          <a:xfrm>
            <a:off x="4358936" y="5690586"/>
            <a:ext cx="3355759" cy="45276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24B284FE-879E-561B-B063-0DE7B2D9AC47}"/>
              </a:ext>
            </a:extLst>
          </p:cNvPr>
          <p:cNvSpPr/>
          <p:nvPr/>
        </p:nvSpPr>
        <p:spPr>
          <a:xfrm>
            <a:off x="2503503" y="692458"/>
            <a:ext cx="7306322" cy="4971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54DADAC3-2BAB-5F2E-65BA-9C6A83C048C7}"/>
              </a:ext>
            </a:extLst>
          </p:cNvPr>
          <p:cNvSpPr txBox="1"/>
          <p:nvPr/>
        </p:nvSpPr>
        <p:spPr>
          <a:xfrm>
            <a:off x="4144009" y="0"/>
            <a:ext cx="6658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dirty="0">
                <a:solidFill>
                  <a:srgbClr val="FF0000"/>
                </a:solidFill>
              </a:rPr>
              <a:t>Do názvu doplnit parametry vašeho reostatu</a:t>
            </a:r>
          </a:p>
        </p:txBody>
      </p:sp>
    </p:spTree>
    <p:extLst>
      <p:ext uri="{BB962C8B-B14F-4D97-AF65-F5344CB8AC3E}">
        <p14:creationId xmlns:p14="http://schemas.microsoft.com/office/powerpoint/2010/main" val="6272523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85A991D6-F729-2471-1C0C-B24C4AEF9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0470" y="21578"/>
            <a:ext cx="10591060" cy="6834451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DC861451-9461-55F2-7BD1-4687875DBF76}"/>
              </a:ext>
            </a:extLst>
          </p:cNvPr>
          <p:cNvSpPr/>
          <p:nvPr/>
        </p:nvSpPr>
        <p:spPr>
          <a:xfrm>
            <a:off x="2166151" y="221941"/>
            <a:ext cx="7821227" cy="4971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242D9B95-37FA-2E9B-752B-DF3E6BB6005C}"/>
              </a:ext>
            </a:extLst>
          </p:cNvPr>
          <p:cNvSpPr/>
          <p:nvPr/>
        </p:nvSpPr>
        <p:spPr>
          <a:xfrm>
            <a:off x="2965142" y="5078027"/>
            <a:ext cx="7306322" cy="4971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1B85D3ED-A65A-24A7-DF49-01623F79C091}"/>
              </a:ext>
            </a:extLst>
          </p:cNvPr>
          <p:cNvSpPr/>
          <p:nvPr/>
        </p:nvSpPr>
        <p:spPr>
          <a:xfrm>
            <a:off x="6096000" y="5528936"/>
            <a:ext cx="1281344" cy="4971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85E1F4BD-6CD9-66AD-7F7B-489F524FCBAF}"/>
              </a:ext>
            </a:extLst>
          </p:cNvPr>
          <p:cNvSpPr/>
          <p:nvPr/>
        </p:nvSpPr>
        <p:spPr>
          <a:xfrm>
            <a:off x="3169328" y="6138909"/>
            <a:ext cx="5877018" cy="4971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C9FB37C6-3A64-9113-BF14-68CD9DDC5C10}"/>
              </a:ext>
            </a:extLst>
          </p:cNvPr>
          <p:cNvSpPr/>
          <p:nvPr/>
        </p:nvSpPr>
        <p:spPr>
          <a:xfrm rot="5400000">
            <a:off x="649550" y="2787216"/>
            <a:ext cx="1281344" cy="4971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F4EF56DE-A2A4-7AEE-A6B5-EDBB90CEDC73}"/>
              </a:ext>
            </a:extLst>
          </p:cNvPr>
          <p:cNvSpPr/>
          <p:nvPr/>
        </p:nvSpPr>
        <p:spPr>
          <a:xfrm>
            <a:off x="1464816" y="852256"/>
            <a:ext cx="497150" cy="442995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133F092F-A5F9-435B-B109-DD8A1712C8DA}"/>
              </a:ext>
            </a:extLst>
          </p:cNvPr>
          <p:cNvSpPr txBox="1"/>
          <p:nvPr/>
        </p:nvSpPr>
        <p:spPr>
          <a:xfrm>
            <a:off x="9046346" y="1155528"/>
            <a:ext cx="26545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s-CZ" sz="1600" dirty="0">
                <a:solidFill>
                  <a:srgbClr val="FF0000"/>
                </a:solidFill>
              </a:rPr>
              <a:t>Vyznačení jmenovité hodnoty</a:t>
            </a:r>
          </a:p>
          <a:p>
            <a:pPr algn="ctr"/>
            <a:r>
              <a:rPr lang="cs-CZ" sz="1600" dirty="0">
                <a:solidFill>
                  <a:srgbClr val="FF0000"/>
                </a:solidFill>
              </a:rPr>
              <a:t> a tolerance</a:t>
            </a:r>
          </a:p>
        </p:txBody>
      </p:sp>
      <p:sp>
        <p:nvSpPr>
          <p:cNvPr id="11" name="TextovéPole 3">
            <a:extLst>
              <a:ext uri="{FF2B5EF4-FFF2-40B4-BE49-F238E27FC236}">
                <a16:creationId xmlns:a16="http://schemas.microsoft.com/office/drawing/2014/main" id="{8D039B3C-0021-B07B-254F-1536ABED2C7D}"/>
              </a:ext>
            </a:extLst>
          </p:cNvPr>
          <p:cNvSpPr txBox="1"/>
          <p:nvPr/>
        </p:nvSpPr>
        <p:spPr>
          <a:xfrm>
            <a:off x="4250674" y="-87107"/>
            <a:ext cx="7450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800" dirty="0">
                <a:solidFill>
                  <a:srgbClr val="FF0000"/>
                </a:solidFill>
              </a:rPr>
              <a:t>Do názvu doplnit parametry vašeho kondenzátoru</a:t>
            </a:r>
          </a:p>
        </p:txBody>
      </p:sp>
    </p:spTree>
    <p:extLst>
      <p:ext uri="{BB962C8B-B14F-4D97-AF65-F5344CB8AC3E}">
        <p14:creationId xmlns:p14="http://schemas.microsoft.com/office/powerpoint/2010/main" val="17626345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E0FBA6-B29B-0A8B-2D54-CD58D38CA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04" y="-77935"/>
            <a:ext cx="10515600" cy="1325563"/>
          </a:xfrm>
        </p:spPr>
        <p:txBody>
          <a:bodyPr/>
          <a:lstStyle/>
          <a:p>
            <a:r>
              <a:rPr lang="cs-CZ" dirty="0"/>
              <a:t>Logaritmické měřítko – kde najít?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D46168BB-9D4C-685C-DECF-209E51725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70" y="955800"/>
            <a:ext cx="11300460" cy="5775960"/>
          </a:xfrm>
          <a:prstGeom prst="rect">
            <a:avLst/>
          </a:prstGeom>
        </p:spPr>
      </p:pic>
      <p:sp>
        <p:nvSpPr>
          <p:cNvPr id="7" name="Ovál 6">
            <a:extLst>
              <a:ext uri="{FF2B5EF4-FFF2-40B4-BE49-F238E27FC236}">
                <a16:creationId xmlns:a16="http://schemas.microsoft.com/office/drawing/2014/main" id="{820400AD-1B50-7F35-BD6E-3F780CAD7811}"/>
              </a:ext>
            </a:extLst>
          </p:cNvPr>
          <p:cNvSpPr/>
          <p:nvPr/>
        </p:nvSpPr>
        <p:spPr>
          <a:xfrm>
            <a:off x="1251751" y="4962617"/>
            <a:ext cx="6471822" cy="49715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8" name="Ovál 7">
            <a:extLst>
              <a:ext uri="{FF2B5EF4-FFF2-40B4-BE49-F238E27FC236}">
                <a16:creationId xmlns:a16="http://schemas.microsoft.com/office/drawing/2014/main" id="{03D64CC5-61BF-28C7-B655-CA993A34BC40}"/>
              </a:ext>
            </a:extLst>
          </p:cNvPr>
          <p:cNvSpPr/>
          <p:nvPr/>
        </p:nvSpPr>
        <p:spPr>
          <a:xfrm>
            <a:off x="8612819" y="5301448"/>
            <a:ext cx="2972540" cy="49715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cxnSp>
        <p:nvCxnSpPr>
          <p:cNvPr id="10" name="Přímá spojnice se šipkou 9">
            <a:extLst>
              <a:ext uri="{FF2B5EF4-FFF2-40B4-BE49-F238E27FC236}">
                <a16:creationId xmlns:a16="http://schemas.microsoft.com/office/drawing/2014/main" id="{6F6757B2-11CA-FF28-1BA8-0ECD62882285}"/>
              </a:ext>
            </a:extLst>
          </p:cNvPr>
          <p:cNvCxnSpPr>
            <a:cxnSpLocks/>
          </p:cNvCxnSpPr>
          <p:nvPr/>
        </p:nvCxnSpPr>
        <p:spPr>
          <a:xfrm>
            <a:off x="7199790" y="5459767"/>
            <a:ext cx="1233996" cy="902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ál 11">
            <a:extLst>
              <a:ext uri="{FF2B5EF4-FFF2-40B4-BE49-F238E27FC236}">
                <a16:creationId xmlns:a16="http://schemas.microsoft.com/office/drawing/2014/main" id="{88D0C0E1-9551-022C-6A25-76B22331CE30}"/>
              </a:ext>
            </a:extLst>
          </p:cNvPr>
          <p:cNvSpPr/>
          <p:nvPr/>
        </p:nvSpPr>
        <p:spPr>
          <a:xfrm>
            <a:off x="9854213" y="1647124"/>
            <a:ext cx="727970" cy="49715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289246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ECA8E6-86D2-8D49-B6ED-8B22DE30F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>
                <a:highlight>
                  <a:srgbClr val="FFFF00"/>
                </a:highlight>
              </a:rPr>
              <a:t>Grafy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3BA271B-E801-DDF5-2D8E-F55C59FF3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09808" cy="4351338"/>
          </a:xfrm>
        </p:spPr>
        <p:txBody>
          <a:bodyPr>
            <a:normAutofit fontScale="92500"/>
          </a:bodyPr>
          <a:lstStyle/>
          <a:p>
            <a:r>
              <a:rPr lang="cs-CZ" dirty="0"/>
              <a:t>Musí mít vždy název, který určí, ke které části zadání a tabulce patří</a:t>
            </a:r>
          </a:p>
          <a:p>
            <a:r>
              <a:rPr lang="cs-CZ" dirty="0"/>
              <a:t>V názvu grafu musí být uvedeny parametry testovaných součástek, obvodů nebo použitých metod</a:t>
            </a:r>
          </a:p>
          <a:p>
            <a:r>
              <a:rPr lang="cs-CZ" dirty="0"/>
              <a:t>Přehledné popisky a legenda</a:t>
            </a:r>
          </a:p>
          <a:p>
            <a:r>
              <a:rPr lang="cs-CZ" dirty="0"/>
              <a:t>Jednotlivé hodnoty/elementy (prostě čáry a sloupce) musí být dobře rozeznatelné od sebe podle legendy</a:t>
            </a:r>
          </a:p>
          <a:p>
            <a:r>
              <a:rPr lang="cs-CZ" dirty="0"/>
              <a:t>Čistě z ekonomického hlediska dělejte protokoly černobíle (levnější tisk), pokud není vyloženě potřeba udělat barevné zvýraznění – pozor na stejné zobrazení v černobílém formátu!</a:t>
            </a:r>
          </a:p>
          <a:p>
            <a:r>
              <a:rPr lang="cs-CZ" dirty="0"/>
              <a:t>Vždy přidat podrobnou mřížku (rastr) – mřížky musí být po tisku čitelné</a:t>
            </a:r>
          </a:p>
        </p:txBody>
      </p:sp>
    </p:spTree>
    <p:extLst>
      <p:ext uri="{BB962C8B-B14F-4D97-AF65-F5344CB8AC3E}">
        <p14:creationId xmlns:p14="http://schemas.microsoft.com/office/powerpoint/2010/main" val="38680168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E2C7E334-B080-F463-877D-4863A33F6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97620"/>
            <a:ext cx="12165283" cy="5849913"/>
          </a:xfrm>
          <a:prstGeom prst="rect">
            <a:avLst/>
          </a:prstGeom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6426A7AD-C8EC-4C18-CECE-255D70E97D33}"/>
              </a:ext>
            </a:extLst>
          </p:cNvPr>
          <p:cNvSpPr txBox="1"/>
          <p:nvPr/>
        </p:nvSpPr>
        <p:spPr>
          <a:xfrm>
            <a:off x="2396970" y="1961965"/>
            <a:ext cx="8290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400" dirty="0">
                <a:solidFill>
                  <a:srgbClr val="FF0000"/>
                </a:solidFill>
              </a:rPr>
              <a:t>Ne</a:t>
            </a:r>
          </a:p>
        </p:txBody>
      </p:sp>
    </p:spTree>
    <p:extLst>
      <p:ext uri="{BB962C8B-B14F-4D97-AF65-F5344CB8AC3E}">
        <p14:creationId xmlns:p14="http://schemas.microsoft.com/office/powerpoint/2010/main" val="2639110745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E2C7E334-B080-F463-877D-4863A33F6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98891"/>
            <a:ext cx="12165282" cy="5847371"/>
          </a:xfrm>
          <a:prstGeom prst="rect">
            <a:avLst/>
          </a:prstGeom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4C71583C-04E8-D294-C819-68D60B682613}"/>
              </a:ext>
            </a:extLst>
          </p:cNvPr>
          <p:cNvSpPr txBox="1"/>
          <p:nvPr/>
        </p:nvSpPr>
        <p:spPr>
          <a:xfrm>
            <a:off x="2157273" y="1988598"/>
            <a:ext cx="11063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400" dirty="0">
                <a:solidFill>
                  <a:srgbClr val="FF0000"/>
                </a:solidFill>
              </a:rPr>
              <a:t>Ano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3FB67D98-EB78-0CD4-AE3D-796373311FD2}"/>
              </a:ext>
            </a:extLst>
          </p:cNvPr>
          <p:cNvSpPr txBox="1"/>
          <p:nvPr/>
        </p:nvSpPr>
        <p:spPr>
          <a:xfrm>
            <a:off x="4197275" y="0"/>
            <a:ext cx="76233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dirty="0">
                <a:solidFill>
                  <a:srgbClr val="FF0000"/>
                </a:solidFill>
              </a:rPr>
              <a:t>Do názvu doplnit parametry vašeho potenciometru</a:t>
            </a:r>
          </a:p>
        </p:txBody>
      </p:sp>
    </p:spTree>
    <p:extLst>
      <p:ext uri="{BB962C8B-B14F-4D97-AF65-F5344CB8AC3E}">
        <p14:creationId xmlns:p14="http://schemas.microsoft.com/office/powerpoint/2010/main" val="268835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E2C7E334-B080-F463-877D-4863A33F6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98891"/>
            <a:ext cx="12165283" cy="5847371"/>
          </a:xfrm>
          <a:prstGeom prst="rect">
            <a:avLst/>
          </a:prstGeom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4C71583C-04E8-D294-C819-68D60B682613}"/>
              </a:ext>
            </a:extLst>
          </p:cNvPr>
          <p:cNvSpPr txBox="1"/>
          <p:nvPr/>
        </p:nvSpPr>
        <p:spPr>
          <a:xfrm>
            <a:off x="2068497" y="1988599"/>
            <a:ext cx="11063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400" dirty="0">
                <a:solidFill>
                  <a:srgbClr val="FF0000"/>
                </a:solidFill>
              </a:rPr>
              <a:t>Ano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75F0D162-ED45-6A33-CA40-79540D26AD67}"/>
              </a:ext>
            </a:extLst>
          </p:cNvPr>
          <p:cNvSpPr txBox="1"/>
          <p:nvPr/>
        </p:nvSpPr>
        <p:spPr>
          <a:xfrm>
            <a:off x="4197275" y="0"/>
            <a:ext cx="76233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dirty="0">
                <a:solidFill>
                  <a:srgbClr val="FF0000"/>
                </a:solidFill>
              </a:rPr>
              <a:t>Do názvu doplnit parametry vašeho potenciometru</a:t>
            </a:r>
          </a:p>
        </p:txBody>
      </p:sp>
    </p:spTree>
    <p:extLst>
      <p:ext uri="{BB962C8B-B14F-4D97-AF65-F5344CB8AC3E}">
        <p14:creationId xmlns:p14="http://schemas.microsoft.com/office/powerpoint/2010/main" val="263944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ECA8E6-86D2-8D49-B6ED-8B22DE30F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>
                <a:highlight>
                  <a:srgbClr val="FFFF00"/>
                </a:highlight>
              </a:rPr>
              <a:t>Grafy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3BA271B-E801-DDF5-2D8E-F55C59FF3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84689" cy="4351338"/>
          </a:xfrm>
        </p:spPr>
        <p:txBody>
          <a:bodyPr>
            <a:normAutofit lnSpcReduction="10000"/>
          </a:bodyPr>
          <a:lstStyle/>
          <a:p>
            <a:r>
              <a:rPr lang="cs-CZ" dirty="0"/>
              <a:t>Musí mít vždy název, který určí, ke které části zadání a tabulce patří</a:t>
            </a:r>
          </a:p>
          <a:p>
            <a:r>
              <a:rPr lang="cs-CZ" dirty="0"/>
              <a:t>V názvu grafu musí být uvedeny parametry testovaných součástek, obvodů nebo použitých metod</a:t>
            </a:r>
          </a:p>
          <a:p>
            <a:r>
              <a:rPr lang="cs-CZ" dirty="0"/>
              <a:t>Přehledné popisky a legenda</a:t>
            </a:r>
          </a:p>
          <a:p>
            <a:r>
              <a:rPr lang="cs-CZ" dirty="0"/>
              <a:t>Jednotlivé hodnoty/elementy (prostě čáry a sloupce) musí být dobře rozeznatelné od sebe podle legendy</a:t>
            </a:r>
          </a:p>
          <a:p>
            <a:r>
              <a:rPr lang="cs-CZ" dirty="0"/>
              <a:t>Dobře čitelné značky/body grafu (přednostně křížky nebo tečky)</a:t>
            </a:r>
          </a:p>
          <a:p>
            <a:r>
              <a:rPr lang="cs-CZ" dirty="0"/>
              <a:t>Přidejte podrobnou mřížku</a:t>
            </a:r>
          </a:p>
        </p:txBody>
      </p:sp>
    </p:spTree>
    <p:extLst>
      <p:ext uri="{BB962C8B-B14F-4D97-AF65-F5344CB8AC3E}">
        <p14:creationId xmlns:p14="http://schemas.microsoft.com/office/powerpoint/2010/main" val="9658579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8933E464-4D6A-CBC6-144A-7425BFBC5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881" y="0"/>
            <a:ext cx="11594236" cy="6859748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AE515ED1-4E01-F5DF-A9F6-C7381913091F}"/>
              </a:ext>
            </a:extLst>
          </p:cNvPr>
          <p:cNvSpPr txBox="1"/>
          <p:nvPr/>
        </p:nvSpPr>
        <p:spPr>
          <a:xfrm>
            <a:off x="683580" y="115410"/>
            <a:ext cx="8290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400" dirty="0">
                <a:solidFill>
                  <a:srgbClr val="FF0000"/>
                </a:solidFill>
              </a:rPr>
              <a:t>Ne</a:t>
            </a:r>
          </a:p>
        </p:txBody>
      </p:sp>
    </p:spTree>
    <p:extLst>
      <p:ext uri="{BB962C8B-B14F-4D97-AF65-F5344CB8AC3E}">
        <p14:creationId xmlns:p14="http://schemas.microsoft.com/office/powerpoint/2010/main" val="868330670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B8743235-AC2A-6F28-0A5D-ED1572EE1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320" y="0"/>
            <a:ext cx="11585358" cy="6854495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501EDDB0-FAD5-BA68-7961-D32F789C83DF}"/>
              </a:ext>
            </a:extLst>
          </p:cNvPr>
          <p:cNvSpPr txBox="1"/>
          <p:nvPr/>
        </p:nvSpPr>
        <p:spPr>
          <a:xfrm>
            <a:off x="683580" y="115410"/>
            <a:ext cx="11063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400" dirty="0">
                <a:solidFill>
                  <a:srgbClr val="FF0000"/>
                </a:solidFill>
              </a:rPr>
              <a:t>Ano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6743E98A-F8A3-436A-AF84-B1136591C67E}"/>
              </a:ext>
            </a:extLst>
          </p:cNvPr>
          <p:cNvSpPr txBox="1"/>
          <p:nvPr/>
        </p:nvSpPr>
        <p:spPr>
          <a:xfrm>
            <a:off x="1976193" y="0"/>
            <a:ext cx="100870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dirty="0">
                <a:solidFill>
                  <a:srgbClr val="FF0000"/>
                </a:solidFill>
              </a:rPr>
              <a:t>Do názvu doplnit typ a parametry testované součástky nebo obvodu</a:t>
            </a:r>
          </a:p>
        </p:txBody>
      </p:sp>
    </p:spTree>
    <p:extLst>
      <p:ext uri="{BB962C8B-B14F-4D97-AF65-F5344CB8AC3E}">
        <p14:creationId xmlns:p14="http://schemas.microsoft.com/office/powerpoint/2010/main" val="3573873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ECA8E6-86D2-8D49-B6ED-8B22DE30F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>
                <a:highlight>
                  <a:srgbClr val="FFFF00"/>
                </a:highlight>
              </a:rPr>
              <a:t>Grafy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3BA271B-E801-DDF5-2D8E-F55C59FF3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84689" cy="4351338"/>
          </a:xfrm>
        </p:spPr>
        <p:txBody>
          <a:bodyPr>
            <a:normAutofit lnSpcReduction="10000"/>
          </a:bodyPr>
          <a:lstStyle/>
          <a:p>
            <a:r>
              <a:rPr lang="cs-CZ" dirty="0"/>
              <a:t>Musí mít vždy název, který určí, ke které části zadání a tabulce patří</a:t>
            </a:r>
          </a:p>
          <a:p>
            <a:r>
              <a:rPr lang="cs-CZ" dirty="0"/>
              <a:t>V názvu grafu musí být uvedeny parametry testovaných součástek, obvodů nebo použitých metod</a:t>
            </a:r>
          </a:p>
          <a:p>
            <a:r>
              <a:rPr lang="cs-CZ" dirty="0"/>
              <a:t>Přehledné popisky a legenda</a:t>
            </a:r>
          </a:p>
          <a:p>
            <a:r>
              <a:rPr lang="cs-CZ" dirty="0"/>
              <a:t>Jednotlivé hodnoty/elementy (prostě čáry a sloupce) musí být dobře rozeznatelné od sebe podle legendy</a:t>
            </a:r>
          </a:p>
          <a:p>
            <a:r>
              <a:rPr lang="cs-CZ" dirty="0"/>
              <a:t>Dobře čitelné značky (body)</a:t>
            </a:r>
          </a:p>
          <a:p>
            <a:r>
              <a:rPr lang="cs-CZ" dirty="0"/>
              <a:t>Pokud by značek/bodů bylo moc, je možné použít graf bez nich nebo počet hodnot zredukovat</a:t>
            </a:r>
          </a:p>
        </p:txBody>
      </p:sp>
    </p:spTree>
    <p:extLst>
      <p:ext uri="{BB962C8B-B14F-4D97-AF65-F5344CB8AC3E}">
        <p14:creationId xmlns:p14="http://schemas.microsoft.com/office/powerpoint/2010/main" val="32732743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47675F58-C19B-A5B2-DEFD-3EC6752112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8394" y="1069759"/>
            <a:ext cx="11715212" cy="5788241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C9968A4A-0F22-43D2-C51D-7C6AE039DDB0}"/>
              </a:ext>
            </a:extLst>
          </p:cNvPr>
          <p:cNvSpPr txBox="1"/>
          <p:nvPr/>
        </p:nvSpPr>
        <p:spPr>
          <a:xfrm>
            <a:off x="683580" y="115410"/>
            <a:ext cx="8290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400" dirty="0">
                <a:solidFill>
                  <a:srgbClr val="FF0000"/>
                </a:solidFill>
              </a:rPr>
              <a:t>Ne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6126EA0-A401-4661-AC6A-7BB73E31F960}"/>
              </a:ext>
            </a:extLst>
          </p:cNvPr>
          <p:cNvSpPr txBox="1"/>
          <p:nvPr/>
        </p:nvSpPr>
        <p:spPr>
          <a:xfrm>
            <a:off x="4170642" y="358715"/>
            <a:ext cx="7450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dirty="0">
                <a:solidFill>
                  <a:srgbClr val="FF0000"/>
                </a:solidFill>
              </a:rPr>
              <a:t>Do názvu doplnit parametry vašeho kondenzátoru</a:t>
            </a:r>
          </a:p>
        </p:txBody>
      </p:sp>
    </p:spTree>
    <p:extLst>
      <p:ext uri="{BB962C8B-B14F-4D97-AF65-F5344CB8AC3E}">
        <p14:creationId xmlns:p14="http://schemas.microsoft.com/office/powerpoint/2010/main" val="387499486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47675F58-C19B-A5B2-DEFD-3EC6752112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839" y="1069760"/>
            <a:ext cx="11878322" cy="5788240"/>
          </a:xfrm>
          <a:prstGeom prst="rect">
            <a:avLst/>
          </a:prstGeom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C72D6DB8-FEFD-EF5B-3713-6B772BEE2868}"/>
              </a:ext>
            </a:extLst>
          </p:cNvPr>
          <p:cNvSpPr txBox="1"/>
          <p:nvPr/>
        </p:nvSpPr>
        <p:spPr>
          <a:xfrm>
            <a:off x="683580" y="115410"/>
            <a:ext cx="11063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400" dirty="0">
                <a:solidFill>
                  <a:srgbClr val="FF0000"/>
                </a:solidFill>
              </a:rPr>
              <a:t>Ano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508A6DFE-8FB8-8544-5F78-1BF1728FEBA9}"/>
              </a:ext>
            </a:extLst>
          </p:cNvPr>
          <p:cNvSpPr txBox="1"/>
          <p:nvPr/>
        </p:nvSpPr>
        <p:spPr>
          <a:xfrm>
            <a:off x="4170642" y="358715"/>
            <a:ext cx="7450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dirty="0">
                <a:solidFill>
                  <a:srgbClr val="FF0000"/>
                </a:solidFill>
              </a:rPr>
              <a:t>Do názvu doplnit parametry vašeho kondenzátoru</a:t>
            </a:r>
          </a:p>
        </p:txBody>
      </p:sp>
    </p:spTree>
    <p:extLst>
      <p:ext uri="{BB962C8B-B14F-4D97-AF65-F5344CB8AC3E}">
        <p14:creationId xmlns:p14="http://schemas.microsoft.com/office/powerpoint/2010/main" val="2950562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47675F58-C19B-A5B2-DEFD-3EC6752112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7435" y="1069760"/>
            <a:ext cx="11717130" cy="57882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74DD5A3E-A14C-7FD2-2B50-7B3736D30EA8}"/>
              </a:ext>
            </a:extLst>
          </p:cNvPr>
          <p:cNvSpPr txBox="1"/>
          <p:nvPr/>
        </p:nvSpPr>
        <p:spPr>
          <a:xfrm>
            <a:off x="683580" y="115410"/>
            <a:ext cx="11063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400" dirty="0">
                <a:solidFill>
                  <a:srgbClr val="FF0000"/>
                </a:solidFill>
              </a:rPr>
              <a:t>Ano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4B0C14DE-8166-56A5-6386-9229BE4E24E3}"/>
              </a:ext>
            </a:extLst>
          </p:cNvPr>
          <p:cNvSpPr txBox="1"/>
          <p:nvPr/>
        </p:nvSpPr>
        <p:spPr>
          <a:xfrm>
            <a:off x="4170642" y="358715"/>
            <a:ext cx="7450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dirty="0">
                <a:solidFill>
                  <a:srgbClr val="FF0000"/>
                </a:solidFill>
              </a:rPr>
              <a:t>Do názvu doplnit parametry vašeho kondenzátoru</a:t>
            </a:r>
          </a:p>
        </p:txBody>
      </p:sp>
    </p:spTree>
    <p:extLst>
      <p:ext uri="{BB962C8B-B14F-4D97-AF65-F5344CB8AC3E}">
        <p14:creationId xmlns:p14="http://schemas.microsoft.com/office/powerpoint/2010/main" val="375751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ECA8E6-86D2-8D49-B6ED-8B22DE30F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>
                <a:highlight>
                  <a:srgbClr val="FFFF00"/>
                </a:highlight>
              </a:rPr>
              <a:t>Grafy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3BA271B-E801-DDF5-2D8E-F55C59FF3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84689" cy="4351338"/>
          </a:xfrm>
        </p:spPr>
        <p:txBody>
          <a:bodyPr/>
          <a:lstStyle/>
          <a:p>
            <a:r>
              <a:rPr lang="cs-CZ" dirty="0"/>
              <a:t>Musí mít vždy název, který určí, ke které tabulce patří</a:t>
            </a:r>
          </a:p>
          <a:p>
            <a:r>
              <a:rPr lang="cs-CZ" dirty="0"/>
              <a:t>Přehledné popisky a legenda</a:t>
            </a:r>
          </a:p>
          <a:p>
            <a:r>
              <a:rPr lang="cs-CZ" dirty="0"/>
              <a:t>Jednotlivé hodnoty/elementy (prostě čáry a sloupce) musí být dobře rozeznatelné od sebe podle legendy</a:t>
            </a:r>
          </a:p>
          <a:p>
            <a:r>
              <a:rPr lang="cs-CZ" dirty="0"/>
              <a:t>Dobře čitelné značky/body</a:t>
            </a:r>
          </a:p>
          <a:p>
            <a:r>
              <a:rPr lang="cs-CZ" dirty="0"/>
              <a:t>Pokud by značek/bodů bylo moc, je možné použít graf bez nich nebo počet hodnot zredukovat</a:t>
            </a:r>
          </a:p>
          <a:p>
            <a:r>
              <a:rPr lang="cs-CZ" dirty="0"/>
              <a:t>U sloupcových grafů je potřeba sloupce přehledně pojmenovat a mít je v rozumném měřítku</a:t>
            </a:r>
          </a:p>
        </p:txBody>
      </p:sp>
    </p:spTree>
    <p:extLst>
      <p:ext uri="{BB962C8B-B14F-4D97-AF65-F5344CB8AC3E}">
        <p14:creationId xmlns:p14="http://schemas.microsoft.com/office/powerpoint/2010/main" val="36925644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D17B2474-D463-AF4D-6181-63F4F8216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177" y="0"/>
            <a:ext cx="11313645" cy="6858000"/>
          </a:xfrm>
          <a:prstGeom prst="rect">
            <a:avLst/>
          </a:prstGeom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4BDAAEDF-A3FD-9248-7A14-41C3188F4F2B}"/>
              </a:ext>
            </a:extLst>
          </p:cNvPr>
          <p:cNvSpPr txBox="1"/>
          <p:nvPr/>
        </p:nvSpPr>
        <p:spPr>
          <a:xfrm>
            <a:off x="683580" y="115410"/>
            <a:ext cx="8290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400" dirty="0">
                <a:solidFill>
                  <a:srgbClr val="FF0000"/>
                </a:solidFill>
              </a:rPr>
              <a:t>Ne</a:t>
            </a:r>
          </a:p>
        </p:txBody>
      </p:sp>
      <p:sp>
        <p:nvSpPr>
          <p:cNvPr id="3" name="Ovál 2">
            <a:extLst>
              <a:ext uri="{FF2B5EF4-FFF2-40B4-BE49-F238E27FC236}">
                <a16:creationId xmlns:a16="http://schemas.microsoft.com/office/drawing/2014/main" id="{F32D150F-145A-2BB5-832D-66220329C712}"/>
              </a:ext>
            </a:extLst>
          </p:cNvPr>
          <p:cNvSpPr/>
          <p:nvPr/>
        </p:nvSpPr>
        <p:spPr>
          <a:xfrm>
            <a:off x="9614515" y="5530789"/>
            <a:ext cx="1695635" cy="31071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8D039B3C-0021-B07B-254F-1536ABED2C7D}"/>
              </a:ext>
            </a:extLst>
          </p:cNvPr>
          <p:cNvSpPr txBox="1"/>
          <p:nvPr/>
        </p:nvSpPr>
        <p:spPr>
          <a:xfrm>
            <a:off x="4197275" y="0"/>
            <a:ext cx="6715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dirty="0">
                <a:solidFill>
                  <a:srgbClr val="FF0000"/>
                </a:solidFill>
              </a:rPr>
              <a:t>Do názvu doplnit parametry vašeho rezistoru</a:t>
            </a:r>
          </a:p>
        </p:txBody>
      </p:sp>
    </p:spTree>
    <p:extLst>
      <p:ext uri="{BB962C8B-B14F-4D97-AF65-F5344CB8AC3E}">
        <p14:creationId xmlns:p14="http://schemas.microsoft.com/office/powerpoint/2010/main" val="41195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D17B2474-D463-AF4D-6181-63F4F8216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177" y="0"/>
            <a:ext cx="11313645" cy="6857999"/>
          </a:xfrm>
          <a:prstGeom prst="rect">
            <a:avLst/>
          </a:prstGeom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7BC29A84-75FF-9AB0-458C-B40AE6C92A2C}"/>
              </a:ext>
            </a:extLst>
          </p:cNvPr>
          <p:cNvSpPr txBox="1"/>
          <p:nvPr/>
        </p:nvSpPr>
        <p:spPr>
          <a:xfrm>
            <a:off x="683580" y="115410"/>
            <a:ext cx="11063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400" dirty="0">
                <a:solidFill>
                  <a:srgbClr val="FF0000"/>
                </a:solidFill>
              </a:rPr>
              <a:t>Ano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F96279AB-D5B2-089C-43F8-48B16F0A84AF}"/>
              </a:ext>
            </a:extLst>
          </p:cNvPr>
          <p:cNvSpPr txBox="1"/>
          <p:nvPr/>
        </p:nvSpPr>
        <p:spPr>
          <a:xfrm>
            <a:off x="2936191" y="6294268"/>
            <a:ext cx="6319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>
                <a:solidFill>
                  <a:srgbClr val="FF0000"/>
                </a:solidFill>
              </a:rPr>
              <a:t>Nevyhovující sloupec jsme smazali a NAPSALI DŮVOD DO ZÁVĚRU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B33D3DEA-B3D9-1E41-D746-B56CF369DDF5}"/>
              </a:ext>
            </a:extLst>
          </p:cNvPr>
          <p:cNvSpPr txBox="1"/>
          <p:nvPr/>
        </p:nvSpPr>
        <p:spPr>
          <a:xfrm>
            <a:off x="4197275" y="0"/>
            <a:ext cx="6715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dirty="0">
                <a:solidFill>
                  <a:srgbClr val="FF0000"/>
                </a:solidFill>
              </a:rPr>
              <a:t>Do názvu doplnit parametry vašeho rezistoru</a:t>
            </a:r>
          </a:p>
        </p:txBody>
      </p:sp>
    </p:spTree>
    <p:extLst>
      <p:ext uri="{BB962C8B-B14F-4D97-AF65-F5344CB8AC3E}">
        <p14:creationId xmlns:p14="http://schemas.microsoft.com/office/powerpoint/2010/main" val="3634460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D17B2474-D463-AF4D-6181-63F4F8216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76" y="0"/>
            <a:ext cx="11313647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D2229FC0-B1F2-1772-B777-F4F274544C1A}"/>
              </a:ext>
            </a:extLst>
          </p:cNvPr>
          <p:cNvSpPr txBox="1"/>
          <p:nvPr/>
        </p:nvSpPr>
        <p:spPr>
          <a:xfrm>
            <a:off x="683580" y="115410"/>
            <a:ext cx="8290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400" dirty="0">
                <a:solidFill>
                  <a:srgbClr val="FF0000"/>
                </a:solidFill>
              </a:rPr>
              <a:t>Ne</a:t>
            </a:r>
          </a:p>
        </p:txBody>
      </p:sp>
      <p:sp>
        <p:nvSpPr>
          <p:cNvPr id="2" name="Ovál 1">
            <a:extLst>
              <a:ext uri="{FF2B5EF4-FFF2-40B4-BE49-F238E27FC236}">
                <a16:creationId xmlns:a16="http://schemas.microsoft.com/office/drawing/2014/main" id="{17188EBF-E70A-FB27-51B2-D701B38BBFF1}"/>
              </a:ext>
            </a:extLst>
          </p:cNvPr>
          <p:cNvSpPr/>
          <p:nvPr/>
        </p:nvSpPr>
        <p:spPr>
          <a:xfrm>
            <a:off x="9605638" y="884851"/>
            <a:ext cx="1695635" cy="489451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D4800778-9AC7-24B9-87B4-A8D92A5A6F23}"/>
              </a:ext>
            </a:extLst>
          </p:cNvPr>
          <p:cNvSpPr txBox="1"/>
          <p:nvPr/>
        </p:nvSpPr>
        <p:spPr>
          <a:xfrm>
            <a:off x="4197275" y="0"/>
            <a:ext cx="6715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dirty="0">
                <a:solidFill>
                  <a:srgbClr val="FF0000"/>
                </a:solidFill>
              </a:rPr>
              <a:t>Do názvu doplnit parametry vašeho rezistoru</a:t>
            </a:r>
          </a:p>
        </p:txBody>
      </p:sp>
    </p:spTree>
    <p:extLst>
      <p:ext uri="{BB962C8B-B14F-4D97-AF65-F5344CB8AC3E}">
        <p14:creationId xmlns:p14="http://schemas.microsoft.com/office/powerpoint/2010/main" val="3960495255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D17B2474-D463-AF4D-6181-63F4F8216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177" y="0"/>
            <a:ext cx="11313644" cy="6857999"/>
          </a:xfrm>
          <a:prstGeom prst="rect">
            <a:avLst/>
          </a:prstGeom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9F151B27-082E-2FC8-9EAE-0BDB4582D45D}"/>
              </a:ext>
            </a:extLst>
          </p:cNvPr>
          <p:cNvSpPr txBox="1"/>
          <p:nvPr/>
        </p:nvSpPr>
        <p:spPr>
          <a:xfrm>
            <a:off x="683580" y="115410"/>
            <a:ext cx="11063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400" dirty="0">
                <a:solidFill>
                  <a:srgbClr val="FF0000"/>
                </a:solidFill>
              </a:rPr>
              <a:t>Ano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8E0CBB8B-5ACE-DD94-3F96-C9BE06FEB9FF}"/>
              </a:ext>
            </a:extLst>
          </p:cNvPr>
          <p:cNvSpPr txBox="1"/>
          <p:nvPr/>
        </p:nvSpPr>
        <p:spPr>
          <a:xfrm>
            <a:off x="2501652" y="6326209"/>
            <a:ext cx="7188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>
                <a:solidFill>
                  <a:srgbClr val="FF0000"/>
                </a:solidFill>
              </a:rPr>
              <a:t>Nevyhovující sloupec jsme nahoře uřízli a NAPSALI DŮVOD DO ZÁVĚRU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5325D8A3-0B5D-71A0-84EA-7D5E97FD4FE4}"/>
              </a:ext>
            </a:extLst>
          </p:cNvPr>
          <p:cNvSpPr txBox="1"/>
          <p:nvPr/>
        </p:nvSpPr>
        <p:spPr>
          <a:xfrm>
            <a:off x="4197275" y="0"/>
            <a:ext cx="6715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dirty="0">
                <a:solidFill>
                  <a:srgbClr val="FF0000"/>
                </a:solidFill>
              </a:rPr>
              <a:t>Do názvu doplnit parametry vašeho rezistoru</a:t>
            </a:r>
          </a:p>
        </p:txBody>
      </p:sp>
    </p:spTree>
    <p:extLst>
      <p:ext uri="{BB962C8B-B14F-4D97-AF65-F5344CB8AC3E}">
        <p14:creationId xmlns:p14="http://schemas.microsoft.com/office/powerpoint/2010/main" val="265136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D17B2474-D463-AF4D-6181-63F4F8216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177" y="0"/>
            <a:ext cx="11313644" cy="6857998"/>
          </a:xfrm>
          <a:prstGeom prst="rect">
            <a:avLst/>
          </a:prstGeom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20F5BFE3-1EB6-25FD-7830-FE2A2EA76CD3}"/>
              </a:ext>
            </a:extLst>
          </p:cNvPr>
          <p:cNvSpPr txBox="1"/>
          <p:nvPr/>
        </p:nvSpPr>
        <p:spPr>
          <a:xfrm>
            <a:off x="683580" y="115410"/>
            <a:ext cx="11063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400" dirty="0">
                <a:solidFill>
                  <a:srgbClr val="FF0000"/>
                </a:solidFill>
              </a:rPr>
              <a:t>Ano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B5E4D7F8-4C7D-988B-AE70-D4A1FD5CAA45}"/>
              </a:ext>
            </a:extLst>
          </p:cNvPr>
          <p:cNvSpPr txBox="1"/>
          <p:nvPr/>
        </p:nvSpPr>
        <p:spPr>
          <a:xfrm>
            <a:off x="7095478" y="120379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>
                <a:solidFill>
                  <a:srgbClr val="FF0000"/>
                </a:solidFill>
              </a:rPr>
              <a:t>Takto se zakresluje míra tolerance</a:t>
            </a:r>
          </a:p>
        </p:txBody>
      </p:sp>
      <p:sp>
        <p:nvSpPr>
          <p:cNvPr id="6" name="Ovál 5">
            <a:extLst>
              <a:ext uri="{FF2B5EF4-FFF2-40B4-BE49-F238E27FC236}">
                <a16:creationId xmlns:a16="http://schemas.microsoft.com/office/drawing/2014/main" id="{560CC5D6-FE20-19FD-84DB-62EB039B0DC1}"/>
              </a:ext>
            </a:extLst>
          </p:cNvPr>
          <p:cNvSpPr/>
          <p:nvPr/>
        </p:nvSpPr>
        <p:spPr>
          <a:xfrm>
            <a:off x="1958650" y="1639453"/>
            <a:ext cx="9333746" cy="133456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559865EC-4855-6A1A-2B54-06217081DDB3}"/>
              </a:ext>
            </a:extLst>
          </p:cNvPr>
          <p:cNvSpPr txBox="1"/>
          <p:nvPr/>
        </p:nvSpPr>
        <p:spPr>
          <a:xfrm>
            <a:off x="4197275" y="0"/>
            <a:ext cx="6715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dirty="0">
                <a:solidFill>
                  <a:srgbClr val="FF0000"/>
                </a:solidFill>
              </a:rPr>
              <a:t>Do názvu doplnit parametry vašeho rezistoru</a:t>
            </a:r>
          </a:p>
        </p:txBody>
      </p:sp>
    </p:spTree>
    <p:extLst>
      <p:ext uri="{BB962C8B-B14F-4D97-AF65-F5344CB8AC3E}">
        <p14:creationId xmlns:p14="http://schemas.microsoft.com/office/powerpoint/2010/main" val="2242340517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D57106-DAC2-9677-9645-75B4F4336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FF0000"/>
                </a:solidFill>
              </a:rPr>
              <a:t>Důležité ke grafům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78779CC-A072-1215-F25D-9D855DA51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9601939" cy="4351338"/>
          </a:xfrm>
        </p:spPr>
        <p:txBody>
          <a:bodyPr>
            <a:normAutofit/>
          </a:bodyPr>
          <a:lstStyle/>
          <a:p>
            <a:r>
              <a:rPr lang="cs-CZ" dirty="0"/>
              <a:t>Pokud se ptáte, proč jsou tu grafy tak moc rozepsané, tak věřte, že spoustu protokolů je vrácena právě kvůli grafům</a:t>
            </a:r>
          </a:p>
          <a:p>
            <a:r>
              <a:rPr lang="cs-CZ" dirty="0"/>
              <a:t>Jeden graf se vždy rozprostře po celé stránce A4 z důvodu přesnosti zobrazení měřených závislostí a vyznačení typických hodnot součástek či obvodů</a:t>
            </a:r>
          </a:p>
          <a:p>
            <a:r>
              <a:rPr lang="cs-CZ" dirty="0"/>
              <a:t>Nedává se dva či více grafů pod sebe na jednu stránku</a:t>
            </a:r>
          </a:p>
          <a:p>
            <a:r>
              <a:rPr lang="cs-CZ" dirty="0"/>
              <a:t>Opakuji, nedává se dva či více grafů pod sebe na jednu stránku</a:t>
            </a:r>
          </a:p>
          <a:p>
            <a:r>
              <a:rPr lang="cs-CZ" dirty="0"/>
              <a:t>Z grafů se dá často najít chyba v měření, např. pokud je někde neočekávaný propad</a:t>
            </a:r>
          </a:p>
        </p:txBody>
      </p:sp>
    </p:spTree>
    <p:extLst>
      <p:ext uri="{BB962C8B-B14F-4D97-AF65-F5344CB8AC3E}">
        <p14:creationId xmlns:p14="http://schemas.microsoft.com/office/powerpoint/2010/main" val="4128720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3D01A7-731C-E950-E1E8-1B8E048B3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>
                <a:highlight>
                  <a:srgbClr val="FFFF00"/>
                </a:highlight>
              </a:rPr>
              <a:t>Závěr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5FFA51F-1EE7-DE77-333E-233FF9EB2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Často napsáno v zadání, co máte uvést v závěru</a:t>
            </a:r>
          </a:p>
          <a:p>
            <a:r>
              <a:rPr lang="cs-CZ" dirty="0"/>
              <a:t>Zhodnotit, na co jsme při měření přišli</a:t>
            </a:r>
          </a:p>
          <a:p>
            <a:r>
              <a:rPr lang="cs-CZ" dirty="0"/>
              <a:t>Porovnání hodnot, měřících metod, výpočtů…</a:t>
            </a:r>
          </a:p>
          <a:p>
            <a:r>
              <a:rPr lang="cs-CZ" dirty="0"/>
              <a:t>Něco se vám nepovedlo či jste zapálili půlku laboratoří? Gratuluji, to tam taky můžete napsat</a:t>
            </a:r>
          </a:p>
          <a:p>
            <a:r>
              <a:rPr lang="cs-CZ" dirty="0"/>
              <a:t>Pokud máte vyloženě špatně naměřené hodnoty, učitelé to většinou budou chtít nechat přeměřit znovu</a:t>
            </a:r>
          </a:p>
          <a:p>
            <a:r>
              <a:rPr lang="cs-CZ" dirty="0"/>
              <a:t>Za větu „Měření probíhalo dle očekávání“ nebo „Naměřené hodnoty odpovídají teoretickým předpokladům“ vás učitelé vyhodí z okna</a:t>
            </a:r>
          </a:p>
          <a:p>
            <a:pPr lvl="1"/>
            <a:r>
              <a:rPr lang="cs-CZ" dirty="0"/>
              <a:t>Za takovéto věty skončíte na nástěnce nářků v laborkách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564197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BBE56670-8589-D36C-0862-740E5B6ED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78" y="1319467"/>
            <a:ext cx="11343844" cy="1431485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B308CED0-ECD8-9B6F-0F01-5FA5FE65D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08" y="2750952"/>
            <a:ext cx="11914392" cy="1817233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C592636B-00D9-7B9C-C670-557E6B30D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78" y="4568185"/>
            <a:ext cx="11343844" cy="1582862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5AD2422E-E4FB-DDAF-47FE-5F0B844252E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b="1" i="1" dirty="0"/>
              <a:t>Jak vypadají Závěry v Zadání</a:t>
            </a:r>
          </a:p>
        </p:txBody>
      </p:sp>
    </p:spTree>
    <p:extLst>
      <p:ext uri="{BB962C8B-B14F-4D97-AF65-F5344CB8AC3E}">
        <p14:creationId xmlns:p14="http://schemas.microsoft.com/office/powerpoint/2010/main" val="3621514603"/>
      </p:ext>
    </p:extLst>
  </p:cSld>
  <p:clrMapOvr>
    <a:masterClrMapping/>
  </p:clrMapOvr>
  <p:transition spd="slow"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488519-DF01-86B2-E2D9-BF4FC5354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/>
              <a:t>Jak má vypadat Závěr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1020026-249A-D152-DE8C-C2BEC9A6E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2662"/>
            <a:ext cx="10515600" cy="4351338"/>
          </a:xfrm>
        </p:spPr>
        <p:txBody>
          <a:bodyPr/>
          <a:lstStyle/>
          <a:p>
            <a:r>
              <a:rPr lang="cs-CZ" dirty="0"/>
              <a:t>Zde příklad pro metody měření vnitřní indukčnosti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776963F4-0D37-9D4E-614A-5E69F85C3F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628"/>
          <a:stretch/>
        </p:blipFill>
        <p:spPr>
          <a:xfrm>
            <a:off x="1281713" y="2146962"/>
            <a:ext cx="9628573" cy="444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9221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08A338-976F-4BCA-A197-DE138C1F3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822"/>
            <a:ext cx="10515600" cy="1325563"/>
          </a:xfrm>
        </p:spPr>
        <p:txBody>
          <a:bodyPr/>
          <a:lstStyle/>
          <a:p>
            <a:r>
              <a:rPr lang="cs-CZ" b="1" i="1" dirty="0">
                <a:highlight>
                  <a:srgbClr val="FFFF00"/>
                </a:highlight>
              </a:rPr>
              <a:t>Originály hodnot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5955DFD-0F7C-F754-B14A-25FF8B752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433" y="1046286"/>
            <a:ext cx="5419725" cy="4351338"/>
          </a:xfrm>
        </p:spPr>
        <p:txBody>
          <a:bodyPr/>
          <a:lstStyle/>
          <a:p>
            <a:r>
              <a:rPr lang="cs-CZ" dirty="0"/>
              <a:t>Vložit papír, na který jste psali hodnoty (pokud jste psali ručně)</a:t>
            </a:r>
          </a:p>
          <a:p>
            <a:r>
              <a:rPr lang="cs-CZ" dirty="0"/>
              <a:t>Musí být podepsané s datumem od učitele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CC5A755-627E-0620-780D-3F19EDBC42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2" t="30162"/>
          <a:stretch/>
        </p:blipFill>
        <p:spPr>
          <a:xfrm>
            <a:off x="5790460" y="76539"/>
            <a:ext cx="6249880" cy="6704921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386534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08A338-976F-4BCA-A197-DE138C1F3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822"/>
            <a:ext cx="10515600" cy="1325563"/>
          </a:xfrm>
        </p:spPr>
        <p:txBody>
          <a:bodyPr/>
          <a:lstStyle/>
          <a:p>
            <a:r>
              <a:rPr lang="cs-CZ" b="1" i="1" dirty="0">
                <a:highlight>
                  <a:srgbClr val="FFFF00"/>
                </a:highlight>
              </a:rPr>
              <a:t>Originály hodnot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5955DFD-0F7C-F754-B14A-25FF8B752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042"/>
            <a:ext cx="10515600" cy="4351338"/>
          </a:xfrm>
        </p:spPr>
        <p:txBody>
          <a:bodyPr/>
          <a:lstStyle/>
          <a:p>
            <a:r>
              <a:rPr lang="cs-CZ" dirty="0"/>
              <a:t>Vložit papír, na který jste psali hodnoty (pokud jste psali na papír)</a:t>
            </a:r>
          </a:p>
          <a:p>
            <a:r>
              <a:rPr lang="cs-CZ" dirty="0"/>
              <a:t>Pokud jste hodnoty psali do počítače, udělejte printscreen obrazovky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E4B3E348-5BD4-5F09-0257-1487FBEB21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310" b="22199"/>
          <a:stretch/>
        </p:blipFill>
        <p:spPr>
          <a:xfrm>
            <a:off x="2266288" y="1967368"/>
            <a:ext cx="7659423" cy="466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61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E9946F-5291-9530-B5B4-463EEE369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/>
              <a:t>Ručně psané protokoly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C8EEFE4-CA64-E07D-6387-E6BF4CA54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32660"/>
            <a:ext cx="9504284" cy="5232123"/>
          </a:xfrm>
        </p:spPr>
        <p:txBody>
          <a:bodyPr/>
          <a:lstStyle/>
          <a:p>
            <a:r>
              <a:rPr lang="cs-CZ" dirty="0"/>
              <a:t>Část protokolů bude zpracována ručně, učitel vás vždy včas upozorní</a:t>
            </a:r>
          </a:p>
          <a:p>
            <a:r>
              <a:rPr lang="cs-CZ" dirty="0"/>
              <a:t>Ručně se píše jen menší počet protokolů, většinu píšete ve Wordu (nebo jiném textovém editoru) a vytisknete</a:t>
            </a:r>
          </a:p>
          <a:p>
            <a:r>
              <a:rPr lang="cs-CZ" dirty="0"/>
              <a:t>U ručně psaného protokolu si vytisknete pouze </a:t>
            </a:r>
            <a:r>
              <a:rPr lang="cs-CZ" dirty="0">
                <a:solidFill>
                  <a:srgbClr val="FF0000"/>
                </a:solidFill>
              </a:rPr>
              <a:t>prázdné</a:t>
            </a:r>
            <a:r>
              <a:rPr lang="cs-CZ" dirty="0"/>
              <a:t> desky, do kterých informace dopíšete ručně</a:t>
            </a:r>
          </a:p>
          <a:p>
            <a:r>
              <a:rPr lang="cs-CZ" dirty="0"/>
              <a:t>A ano, vše ostatní kromě desek píšete ručně</a:t>
            </a:r>
          </a:p>
          <a:p>
            <a:r>
              <a:rPr lang="cs-CZ" dirty="0"/>
              <a:t>Ano, schéma také narýsujete ručně</a:t>
            </a:r>
          </a:p>
          <a:p>
            <a:r>
              <a:rPr lang="cs-CZ" dirty="0"/>
              <a:t>Ano, tabulky také narýsujete a vyplníte ručně</a:t>
            </a:r>
          </a:p>
          <a:p>
            <a:r>
              <a:rPr lang="cs-CZ" dirty="0"/>
              <a:t>Ano, grafy jsou také ručně</a:t>
            </a:r>
          </a:p>
          <a:p>
            <a:r>
              <a:rPr lang="cs-CZ" dirty="0"/>
              <a:t>Ano, vaše jméno a číslo stránky taky napíšete ručně</a:t>
            </a:r>
          </a:p>
        </p:txBody>
      </p:sp>
    </p:spTree>
    <p:extLst>
      <p:ext uri="{BB962C8B-B14F-4D97-AF65-F5344CB8AC3E}">
        <p14:creationId xmlns:p14="http://schemas.microsoft.com/office/powerpoint/2010/main" val="2866033306"/>
      </p:ext>
    </p:extLst>
  </p:cSld>
  <p:clrMapOvr>
    <a:masterClrMapping/>
  </p:clrMapOvr>
  <p:transition spd="slow">
    <p:push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21BDCB-556B-12D9-1228-2657C050E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/>
              <a:t>Ručně psané protokoly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564C8BA-2529-051C-22DA-AD16080AB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9752860" cy="4351338"/>
          </a:xfrm>
        </p:spPr>
        <p:txBody>
          <a:bodyPr>
            <a:noAutofit/>
          </a:bodyPr>
          <a:lstStyle/>
          <a:p>
            <a:r>
              <a:rPr lang="cs-CZ" dirty="0"/>
              <a:t>Vše je nutné psát fixem (nejlépe takovým, který je tenký a moc se nepropíjí)</a:t>
            </a:r>
          </a:p>
          <a:p>
            <a:r>
              <a:rPr lang="cs-CZ" dirty="0"/>
              <a:t>U tabulek, schémat a grafů doporučuji nejdříve narýsovat tužkou a následně obtáhnout fixem</a:t>
            </a:r>
          </a:p>
          <a:p>
            <a:r>
              <a:rPr lang="cs-CZ" dirty="0"/>
              <a:t>Grafy se dělají na milimetrový nebo logaritmický papír</a:t>
            </a:r>
          </a:p>
          <a:p>
            <a:r>
              <a:rPr lang="cs-CZ" dirty="0"/>
              <a:t>Někdo používá metodu nejdříve si protokol udělat na počítači (abyste vůbec věděli, co do něj dát) a následně přepsat na papír</a:t>
            </a:r>
          </a:p>
          <a:p>
            <a:pPr lvl="1"/>
            <a:r>
              <a:rPr lang="cs-CZ" dirty="0"/>
              <a:t>Časově náročná metoda!</a:t>
            </a:r>
          </a:p>
          <a:p>
            <a:r>
              <a:rPr lang="cs-CZ" dirty="0"/>
              <a:t>Ano, na počítači si můžete v Excelu udělat výpočty a grafy, ať víte, jak to bude vypadat, a následně přepíšete/překreslíte ručně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80654226"/>
      </p:ext>
    </p:extLst>
  </p:cSld>
  <p:clrMapOvr>
    <a:masterClrMapping/>
  </p:clrMapOvr>
  <p:transition spd="slow">
    <p:push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F64C35-E97F-D2AD-88B8-06713B9BF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/>
              <a:t>Dodatek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EC56BF4-6261-4631-6E15-0AE25362A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3590" cy="4351338"/>
          </a:xfrm>
        </p:spPr>
        <p:txBody>
          <a:bodyPr/>
          <a:lstStyle/>
          <a:p>
            <a:r>
              <a:rPr lang="cs-CZ" dirty="0"/>
              <a:t>Myslím, že nemusíme předstírat, že byste dělali všechno sami za sebe. Učitelé vědí, že informace budete hledat na netu (po knížkách už skoro nikdo nešáhne… což je velká chyba), ale pamatujte – pište všechno svými slovy. Učitelé už si věci z Wikipedie a většiny odborných stránek pamatují, a to včetně formulace a stylu textu.</a:t>
            </a:r>
          </a:p>
          <a:p>
            <a:r>
              <a:rPr lang="cs-CZ" dirty="0"/>
              <a:t>Pokud se najde věc Ctrl + C a Ctrl + V, automaticky se protokol vrací. Třikrát si ty informace přečtěte a pak to zkuste napsat, alespoň část, z hlavy a vlastními slovy. Ať to není totálně totožné jako na Wikipedii. </a:t>
            </a:r>
          </a:p>
        </p:txBody>
      </p:sp>
    </p:spTree>
    <p:extLst>
      <p:ext uri="{BB962C8B-B14F-4D97-AF65-F5344CB8AC3E}">
        <p14:creationId xmlns:p14="http://schemas.microsoft.com/office/powerpoint/2010/main" val="3032150584"/>
      </p:ext>
    </p:extLst>
  </p:cSld>
  <p:clrMapOvr>
    <a:masterClrMapping/>
  </p:clrMapOvr>
  <p:transition spd="slow">
    <p:push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8C4823-5ECD-B1F8-6CB9-9383764F1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/>
              <a:t>Dodatek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F0E9032-7CE1-D73A-909F-6D6FAE1FC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276"/>
            <a:ext cx="10933590" cy="5302884"/>
          </a:xfrm>
        </p:spPr>
        <p:txBody>
          <a:bodyPr>
            <a:noAutofit/>
          </a:bodyPr>
          <a:lstStyle/>
          <a:p>
            <a:r>
              <a:rPr lang="cs-CZ" dirty="0"/>
              <a:t>Všem je jasné, že část z vás se bude snažit získat protokoly od starších spolužáků. Pokud se vám to povede, myslím, že by bylo zbytečné říkat, ať je nepoužíváte. Všichni víme, že použijete.</a:t>
            </a:r>
          </a:p>
          <a:p>
            <a:r>
              <a:rPr lang="cs-CZ" dirty="0"/>
              <a:t>Když nějaké starší práce získáte, použijte je k inspiraci – ať víte, co že to chtěj napsat do úvodu, ať víte, jak mají zhruba vypadat grafy, ať víte, jestli máte správně vzorce do příkladů. Ale věřte, že jakmile budete protokoly vysloveně kopírovat a učitel na to přijde, bude na kontrolu mnohem přísnější a bude to porovnávat se staršími pracemi svých žáků, které mu budou připadat podobné (ano, často si je pamatují).</a:t>
            </a:r>
          </a:p>
          <a:p>
            <a:r>
              <a:rPr lang="cs-CZ" dirty="0"/>
              <a:t>Jakmile nějaký cizí protokol totálně zkopírujete a jen dodáte své hodnoty, máte pětku s váhou deset (tzn se z toho blbě vyhrabete) a budou vás mnohem víc kontrolovat. Tak buď ty protokoly poctivě pište, nebo se nenechte nachytat ;)</a:t>
            </a:r>
          </a:p>
        </p:txBody>
      </p:sp>
    </p:spTree>
    <p:extLst>
      <p:ext uri="{BB962C8B-B14F-4D97-AF65-F5344CB8AC3E}">
        <p14:creationId xmlns:p14="http://schemas.microsoft.com/office/powerpoint/2010/main" val="1029477082"/>
      </p:ext>
    </p:extLst>
  </p:cSld>
  <p:clrMapOvr>
    <a:masterClrMapping/>
  </p:clrMapOvr>
  <p:transition spd="slow">
    <p:push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BA59F4-F28E-C713-2D41-161EFBCFC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/>
              <a:t>Dodatek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51E84DD-51CD-58F2-F7DD-5B3DBDD17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0865"/>
            <a:ext cx="10374297" cy="4351338"/>
          </a:xfrm>
        </p:spPr>
        <p:txBody>
          <a:bodyPr>
            <a:normAutofit lnSpcReduction="10000"/>
          </a:bodyPr>
          <a:lstStyle/>
          <a:p>
            <a:r>
              <a:rPr lang="cs-CZ" dirty="0"/>
              <a:t>Na protokol mátě většinou týden. Jasný, všichni vám budou říkat, ať to začnete dělat dřív než večer před odevzdáním. Ale taky všichni víme, že většina z vás to dřív dělat nezačne. </a:t>
            </a:r>
          </a:p>
          <a:p>
            <a:r>
              <a:rPr lang="cs-CZ" dirty="0"/>
              <a:t>Takže menší rada: zkuste si udělat, klidně hned ten den, když doměříte, nebo den potom, tabulku s výpočty, postup a grafy. Nebo prostě alespoň nějakou část. To to máte ještě čerstvě v paměti a až budete mít onen večer před odevzdáním, budete sakra rádi, že jste alespoň něco udělali předem. A pokud mi nevěříte, v průběhu roku na to přijdete.</a:t>
            </a:r>
          </a:p>
          <a:p>
            <a:r>
              <a:rPr lang="cs-CZ" dirty="0"/>
              <a:t>Když je potřeba, máte nějakou nejasnost, tak se učitelů včas zeptejte. Jsou to taky lidi (teda, většina z nich, jsou tu legendy o robotech).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608CE68F-1852-A151-61D9-537B432028FE}"/>
              </a:ext>
            </a:extLst>
          </p:cNvPr>
          <p:cNvSpPr txBox="1"/>
          <p:nvPr/>
        </p:nvSpPr>
        <p:spPr>
          <a:xfrm>
            <a:off x="5513033" y="6308209"/>
            <a:ext cx="6269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Kdo poctivě přečetl R.U.R., pochopí pravý význam této poznámky.</a:t>
            </a:r>
          </a:p>
        </p:txBody>
      </p:sp>
      <p:cxnSp>
        <p:nvCxnSpPr>
          <p:cNvPr id="6" name="Přímá spojnice se šipkou 5">
            <a:extLst>
              <a:ext uri="{FF2B5EF4-FFF2-40B4-BE49-F238E27FC236}">
                <a16:creationId xmlns:a16="http://schemas.microsoft.com/office/drawing/2014/main" id="{944416BA-A6A5-B7E4-C6B1-A4867CB334E6}"/>
              </a:ext>
            </a:extLst>
          </p:cNvPr>
          <p:cNvCxnSpPr/>
          <p:nvPr/>
        </p:nvCxnSpPr>
        <p:spPr>
          <a:xfrm flipH="1" flipV="1">
            <a:off x="9250532" y="5903650"/>
            <a:ext cx="150920" cy="404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381777"/>
      </p:ext>
    </p:extLst>
  </p:cSld>
  <p:clrMapOvr>
    <a:masterClrMapping/>
  </p:clrMapOvr>
  <p:transition spd="slow">
    <p:push dir="u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25ECA1-6EBB-DC6C-7DF3-080119886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/>
              <a:t>Dodatek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D6BACBB-B6BA-2B0A-8B0D-8D9CDE7A9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Části protokolu jsou tvořeny v tomto pořadí:</a:t>
            </a:r>
          </a:p>
          <a:p>
            <a:pPr lvl="1"/>
            <a:r>
              <a:rPr lang="cs-CZ" dirty="0"/>
              <a:t>Dostanete zadání, doma vytvoříte teoretický úvod a postup měření. Přijdete na měření, naměříte hodnoty a zapíšete si přístroje. Doma (máte na to týden) upravíte postup měření, uděláte výpočty, grafy, závěr a budete doufat, že vám to vezme napoprvé</a:t>
            </a:r>
          </a:p>
          <a:p>
            <a:r>
              <a:rPr lang="cs-CZ" dirty="0"/>
              <a:t>Není to, že to nějak sepíšete na čtyřku a hotovo, učitelé mohou protokol vrátit a chtít, abyste ho opravili. Pokud se nebudete snažit už od začátku, klidně můžete odevzdávat šest protokolů naráz, protože jsme je předtím nedodělali</a:t>
            </a:r>
          </a:p>
        </p:txBody>
      </p:sp>
    </p:spTree>
    <p:extLst>
      <p:ext uri="{BB962C8B-B14F-4D97-AF65-F5344CB8AC3E}">
        <p14:creationId xmlns:p14="http://schemas.microsoft.com/office/powerpoint/2010/main" val="2338462067"/>
      </p:ext>
    </p:extLst>
  </p:cSld>
  <p:clrMapOvr>
    <a:masterClrMapping/>
  </p:clrMapOvr>
  <p:transition spd="slow">
    <p:push dir="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776F40-5DBA-3A1B-BA71-AAE82A27F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Pár slov na závěr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FDFBC6E-C622-83A4-439F-1A6BB7A39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4"/>
            <a:ext cx="10302240" cy="5337175"/>
          </a:xfrm>
        </p:spPr>
        <p:txBody>
          <a:bodyPr>
            <a:normAutofit/>
          </a:bodyPr>
          <a:lstStyle/>
          <a:p>
            <a:r>
              <a:rPr lang="cs-CZ" dirty="0"/>
              <a:t>Tuto prezentaci vytvořila studentka ve třeťáku (2022/2023), protože se vzhled protokolu naučila až postupně praxí. Chtěla jsem vytvořit něco, co prvákům a druhákům pomůže s tím, jak práce tvořit.</a:t>
            </a:r>
          </a:p>
          <a:p>
            <a:r>
              <a:rPr lang="cs-CZ" dirty="0"/>
              <a:t>Právě proto, že prezentaci vytvořila studentka a ne učitel, je (hlavně poslední třetina) psána spíše srozumitelně než vyloženě odborně</a:t>
            </a:r>
          </a:p>
          <a:p>
            <a:r>
              <a:rPr lang="cs-CZ" dirty="0"/>
              <a:t>Jasně, pokud nepochopíte zadání, nenaměříte správně hodnoty nebo vám shoří měřáky, tak vám tahle prezentace nepomůže. Ale budete vědět, jak protokoly mají vypadat, vzhled dokumentu, pořadí, vyplňování tabulek a přístrojů…</a:t>
            </a:r>
          </a:p>
        </p:txBody>
      </p:sp>
    </p:spTree>
    <p:extLst>
      <p:ext uri="{BB962C8B-B14F-4D97-AF65-F5344CB8AC3E}">
        <p14:creationId xmlns:p14="http://schemas.microsoft.com/office/powerpoint/2010/main" val="243301926"/>
      </p:ext>
    </p:extLst>
  </p:cSld>
  <p:clrMapOvr>
    <a:masterClrMapping/>
  </p:clrMapOvr>
  <p:transition spd="slow">
    <p:push dir="u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6C0D4D-4BC2-81CB-B184-95076EFF1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/>
              <a:t>Pár slov na závěr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A0C7C2E-C329-28D6-058D-8820EEF3A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64588" cy="4351338"/>
          </a:xfrm>
        </p:spPr>
        <p:txBody>
          <a:bodyPr/>
          <a:lstStyle/>
          <a:p>
            <a:r>
              <a:rPr lang="cs-CZ" dirty="0"/>
              <a:t>Ano, dělat protokoly není vždy úplně zábava, ale ve většině případů, hlavně pokud pokračujete na technické vysoké školy, jejich psaní využijete i v budoucnosti</a:t>
            </a:r>
          </a:p>
          <a:p>
            <a:endParaRPr lang="cs-CZ" dirty="0"/>
          </a:p>
          <a:p>
            <a:r>
              <a:rPr lang="cs-CZ" dirty="0"/>
              <a:t>Tato škola není jednoduchá, tvoření protokolů taky ne. Snažte se a hodně štěstí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60770042"/>
      </p:ext>
    </p:extLst>
  </p:cSld>
  <p:clrMapOvr>
    <a:masterClrMapping/>
  </p:clrMapOvr>
  <p:transition spd="slow">
    <p:push dir="u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un Cat Gifs - Funnies - Scrap Girls Digital Scrapbooking Forum">
            <a:extLst>
              <a:ext uri="{FF2B5EF4-FFF2-40B4-BE49-F238E27FC236}">
                <a16:creationId xmlns:a16="http://schemas.microsoft.com/office/drawing/2014/main" id="{9522E9D3-1A3B-D1F6-C146-2A73F0CB2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537" y="659537"/>
            <a:ext cx="5538926" cy="5538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99C4D754-64BE-6EDD-8912-C0FE7E83BD0B}"/>
              </a:ext>
            </a:extLst>
          </p:cNvPr>
          <p:cNvSpPr txBox="1"/>
          <p:nvPr/>
        </p:nvSpPr>
        <p:spPr>
          <a:xfrm>
            <a:off x="4334107" y="168676"/>
            <a:ext cx="3761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Cat GIF za odměnu, že jsi došel až sem</a:t>
            </a:r>
          </a:p>
        </p:txBody>
      </p:sp>
    </p:spTree>
    <p:extLst>
      <p:ext uri="{BB962C8B-B14F-4D97-AF65-F5344CB8AC3E}">
        <p14:creationId xmlns:p14="http://schemas.microsoft.com/office/powerpoint/2010/main" val="91368394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66368ad-a3f3-49f9-936f-d6ee5e238ef4" xsi:nil="true"/>
    <lcf76f155ced4ddcb4097134ff3c332f xmlns="3aea6699-0f64-4420-b677-e482c64c1a6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D24B77804EBAA4684C103BAB5041C08" ma:contentTypeVersion="12" ma:contentTypeDescription="Vytvoří nový dokument" ma:contentTypeScope="" ma:versionID="ec71e93013833f21dfa2deff863f1379">
  <xsd:schema xmlns:xsd="http://www.w3.org/2001/XMLSchema" xmlns:xs="http://www.w3.org/2001/XMLSchema" xmlns:p="http://schemas.microsoft.com/office/2006/metadata/properties" xmlns:ns2="3aea6699-0f64-4420-b677-e482c64c1a63" xmlns:ns3="666368ad-a3f3-49f9-936f-d6ee5e238ef4" targetNamespace="http://schemas.microsoft.com/office/2006/metadata/properties" ma:root="true" ma:fieldsID="6ab685619c449e64d0d6bda33f92dd8b" ns2:_="" ns3:_="">
    <xsd:import namespace="3aea6699-0f64-4420-b677-e482c64c1a63"/>
    <xsd:import namespace="666368ad-a3f3-49f9-936f-d6ee5e238e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ea6699-0f64-4420-b677-e482c64c1a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Značky obrázků" ma:readOnly="false" ma:fieldId="{5cf76f15-5ced-4ddc-b409-7134ff3c332f}" ma:taxonomyMulti="true" ma:sspId="b5190b6f-cc76-4299-8866-3904f6a46e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6368ad-a3f3-49f9-936f-d6ee5e238ef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88d54797-77cd-424a-a3d2-02dfc2888c54}" ma:internalName="TaxCatchAll" ma:showField="CatchAllData" ma:web="666368ad-a3f3-49f9-936f-d6ee5e238e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3DD697-CFDC-4CAE-B04F-7EF1CBD12C56}">
  <ds:schemaRefs>
    <ds:schemaRef ds:uri="http://schemas.microsoft.com/office/2006/metadata/properties"/>
    <ds:schemaRef ds:uri="http://schemas.microsoft.com/office/infopath/2007/PartnerControls"/>
    <ds:schemaRef ds:uri="666368ad-a3f3-49f9-936f-d6ee5e238ef4"/>
    <ds:schemaRef ds:uri="3aea6699-0f64-4420-b677-e482c64c1a63"/>
  </ds:schemaRefs>
</ds:datastoreItem>
</file>

<file path=customXml/itemProps2.xml><?xml version="1.0" encoding="utf-8"?>
<ds:datastoreItem xmlns:ds="http://schemas.openxmlformats.org/officeDocument/2006/customXml" ds:itemID="{1401B58F-2006-4645-A652-48F20295FC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ea6699-0f64-4420-b677-e482c64c1a63"/>
    <ds:schemaRef ds:uri="666368ad-a3f3-49f9-936f-d6ee5e238e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4F86FD-23A1-47B5-905D-782F31DD029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1105</TotalTime>
  <Words>2278</Words>
  <Application>Microsoft Office PowerPoint</Application>
  <PresentationFormat>Widescreen</PresentationFormat>
  <Paragraphs>210</Paragraphs>
  <Slides>61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2" baseType="lpstr">
      <vt:lpstr>Motiv Office</vt:lpstr>
      <vt:lpstr>Zpracování protokolu o měření</vt:lpstr>
      <vt:lpstr>Jak se protokol vlastně tvoří?</vt:lpstr>
      <vt:lpstr>Teoretický úvod</vt:lpstr>
      <vt:lpstr>Tvorba Teoretického úvodu</vt:lpstr>
      <vt:lpstr>Tvorba Teoretického úvodu</vt:lpstr>
      <vt:lpstr>Kde najdete desky na protokol</vt:lpstr>
      <vt:lpstr>Desky</vt:lpstr>
      <vt:lpstr>Vyplnění desek</vt:lpstr>
      <vt:lpstr>Co vše patří do protokolu</vt:lpstr>
      <vt:lpstr>Schéma zapojení</vt:lpstr>
      <vt:lpstr>Použité přístroje</vt:lpstr>
      <vt:lpstr>Použité přístroje</vt:lpstr>
      <vt:lpstr>PowerPoint Presentation</vt:lpstr>
      <vt:lpstr>Příklad tabulky přístrojů</vt:lpstr>
      <vt:lpstr>Příklad tabulky přístrojů</vt:lpstr>
      <vt:lpstr>Postup měření</vt:lpstr>
      <vt:lpstr>Příklad postupu měření</vt:lpstr>
      <vt:lpstr>Tabulky</vt:lpstr>
      <vt:lpstr>PowerPoint Presentation</vt:lpstr>
      <vt:lpstr>PowerPoint Presentation</vt:lpstr>
      <vt:lpstr>Příklady výpočtů</vt:lpstr>
      <vt:lpstr>Příklady výpočtů</vt:lpstr>
      <vt:lpstr>Grafy</vt:lpstr>
      <vt:lpstr>PowerPoint Presentation</vt:lpstr>
      <vt:lpstr>PowerPoint Presentation</vt:lpstr>
      <vt:lpstr>Grafy</vt:lpstr>
      <vt:lpstr>PowerPoint Presentation</vt:lpstr>
      <vt:lpstr>PowerPoint Presentation</vt:lpstr>
      <vt:lpstr>Logaritmické měřítko – kde najít?</vt:lpstr>
      <vt:lpstr>Grafy</vt:lpstr>
      <vt:lpstr>PowerPoint Presentation</vt:lpstr>
      <vt:lpstr>PowerPoint Presentation</vt:lpstr>
      <vt:lpstr>PowerPoint Presentation</vt:lpstr>
      <vt:lpstr>Grafy</vt:lpstr>
      <vt:lpstr>PowerPoint Presentation</vt:lpstr>
      <vt:lpstr>PowerPoint Presentation</vt:lpstr>
      <vt:lpstr>Grafy</vt:lpstr>
      <vt:lpstr>PowerPoint Presentation</vt:lpstr>
      <vt:lpstr>PowerPoint Presentation</vt:lpstr>
      <vt:lpstr>PowerPoint Presentation</vt:lpstr>
      <vt:lpstr>Grafy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Důležité ke grafům</vt:lpstr>
      <vt:lpstr>Závěr</vt:lpstr>
      <vt:lpstr>PowerPoint Presentation</vt:lpstr>
      <vt:lpstr>Jak má vypadat Závěr</vt:lpstr>
      <vt:lpstr>Originály hodnot</vt:lpstr>
      <vt:lpstr>Originály hodnot</vt:lpstr>
      <vt:lpstr>Ručně psané protokoly</vt:lpstr>
      <vt:lpstr>Ručně psané protokoly</vt:lpstr>
      <vt:lpstr>Dodatek</vt:lpstr>
      <vt:lpstr>Dodatek</vt:lpstr>
      <vt:lpstr>Dodatek</vt:lpstr>
      <vt:lpstr>Dodatek</vt:lpstr>
      <vt:lpstr>Pár slov na závěr</vt:lpstr>
      <vt:lpstr>Pár slov na závěr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Tvorba elaborátu</dc:title>
  <dc:creator>Karolína Klasnová</dc:creator>
  <cp:lastModifiedBy>x</cp:lastModifiedBy>
  <cp:revision>168</cp:revision>
  <dcterms:created xsi:type="dcterms:W3CDTF">2022-12-03T16:10:43Z</dcterms:created>
  <dcterms:modified xsi:type="dcterms:W3CDTF">2026-10-21T19:02:47Z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0x0101000D24B77804EBAA4684C103BAB5041C08</vt:lpwstr>
  </property>
  <property fmtid="{D5CDD505-2E9C-101B-9397-08002B2CF9AE}" pid="3" name="MediaServiceImageTags">
    <vt:lpwstr/>
  </property>
</Properties>
</file>